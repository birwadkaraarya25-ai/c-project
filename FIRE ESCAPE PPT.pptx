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68" r:id="rId5"/>
    <p:sldId id="259" r:id="rId6"/>
    <p:sldId id="260" r:id="rId7"/>
    <p:sldId id="261" r:id="rId8"/>
    <p:sldId id="270" r:id="rId9"/>
    <p:sldId id="271" r:id="rId10"/>
    <p:sldId id="262" r:id="rId11"/>
    <p:sldId id="272" r:id="rId12"/>
    <p:sldId id="263" r:id="rId13"/>
    <p:sldId id="264" r:id="rId14"/>
    <p:sldId id="273" r:id="rId15"/>
    <p:sldId id="265" r:id="rId16"/>
    <p:sldId id="266" r:id="rId17"/>
  </p:sldIdLst>
  <p:sldSz cx="9144000" cy="5143500" type="screen16x9"/>
  <p:notesSz cx="6858000" cy="9144000"/>
  <p:embeddedFontLst>
    <p:embeddedFont>
      <p:font typeface="Open Sans" panose="020B0606030504020204" pitchFamily="34" charset="0"/>
      <p:regular r:id="rId19"/>
      <p:bold r:id="rId20"/>
      <p:italic r:id="rId21"/>
      <p:boldItalic r:id="rId22"/>
    </p:embeddedFont>
    <p:embeddedFont>
      <p:font typeface="PT Sans Narrow" panose="020B0506020203020204" pitchFamily="3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0507"/>
    <a:srgbClr val="080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AB36B5-FDD1-49DB-954E-CDDC2A254018}">
  <a:tblStyle styleId="{26AB36B5-FDD1-49DB-954E-CDDC2A25401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80" autoAdjust="0"/>
    <p:restoredTop sz="94660"/>
  </p:normalViewPr>
  <p:slideViewPr>
    <p:cSldViewPr snapToGrid="0">
      <p:cViewPr varScale="1">
        <p:scale>
          <a:sx n="103" d="100"/>
          <a:sy n="103" d="100"/>
        </p:scale>
        <p:origin x="547" y="77"/>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font" Target="fonts/font3.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font" Target="fonts/font2.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6.fntdata"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5.fntdata"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font" Target="fonts/font1.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4.fntdata"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16163a43da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16163a43da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16163a43da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16163a43da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216163a43da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216163a43da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16163a43da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16163a43da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16163a43da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16163a43da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557AA7E0-088C-6E57-1232-B2720932AABB}"/>
            </a:ext>
          </a:extLst>
        </p:cNvPr>
        <p:cNvGrpSpPr/>
        <p:nvPr/>
      </p:nvGrpSpPr>
      <p:grpSpPr>
        <a:xfrm>
          <a:off x="0" y="0"/>
          <a:ext cx="0" cy="0"/>
          <a:chOff x="0" y="0"/>
          <a:chExt cx="0" cy="0"/>
        </a:xfrm>
      </p:grpSpPr>
      <p:sp>
        <p:nvSpPr>
          <p:cNvPr id="96" name="Google Shape;96;g216163a43da_0_79:notes">
            <a:extLst>
              <a:ext uri="{FF2B5EF4-FFF2-40B4-BE49-F238E27FC236}">
                <a16:creationId xmlns:a16="http://schemas.microsoft.com/office/drawing/2014/main" id="{ECC7F211-2EEE-2CB8-2D93-BC51502BD2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16163a43da_0_79:notes">
            <a:extLst>
              <a:ext uri="{FF2B5EF4-FFF2-40B4-BE49-F238E27FC236}">
                <a16:creationId xmlns:a16="http://schemas.microsoft.com/office/drawing/2014/main" id="{945E6A82-3FE2-6CAF-2B8D-89B34C5BF8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2697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BEA64517-D815-FC4E-28BF-F3274AEB67D0}"/>
            </a:ext>
          </a:extLst>
        </p:cNvPr>
        <p:cNvGrpSpPr/>
        <p:nvPr/>
      </p:nvGrpSpPr>
      <p:grpSpPr>
        <a:xfrm>
          <a:off x="0" y="0"/>
          <a:ext cx="0" cy="0"/>
          <a:chOff x="0" y="0"/>
          <a:chExt cx="0" cy="0"/>
        </a:xfrm>
      </p:grpSpPr>
      <p:sp>
        <p:nvSpPr>
          <p:cNvPr id="96" name="Google Shape;96;g216163a43da_0_79:notes">
            <a:extLst>
              <a:ext uri="{FF2B5EF4-FFF2-40B4-BE49-F238E27FC236}">
                <a16:creationId xmlns:a16="http://schemas.microsoft.com/office/drawing/2014/main" id="{DC571613-2816-1796-83B1-EE638764ED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16163a43da_0_79:notes">
            <a:extLst>
              <a:ext uri="{FF2B5EF4-FFF2-40B4-BE49-F238E27FC236}">
                <a16:creationId xmlns:a16="http://schemas.microsoft.com/office/drawing/2014/main" id="{FEE9449C-8CC9-2F76-9CE1-644D3D9CE5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54516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16163a43d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16163a43d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3FF59D8-4115-953F-6F8D-A6A3525380DF}"/>
            </a:ext>
          </a:extLst>
        </p:cNvPr>
        <p:cNvGrpSpPr/>
        <p:nvPr/>
      </p:nvGrpSpPr>
      <p:grpSpPr>
        <a:xfrm>
          <a:off x="0" y="0"/>
          <a:ext cx="0" cy="0"/>
          <a:chOff x="0" y="0"/>
          <a:chExt cx="0" cy="0"/>
        </a:xfrm>
      </p:grpSpPr>
      <p:sp>
        <p:nvSpPr>
          <p:cNvPr id="102" name="Google Shape;102;g216163a43da_0_85:notes">
            <a:extLst>
              <a:ext uri="{FF2B5EF4-FFF2-40B4-BE49-F238E27FC236}">
                <a16:creationId xmlns:a16="http://schemas.microsoft.com/office/drawing/2014/main" id="{B8FF3F17-1DFF-12E2-8BF2-FCA959A0B3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216163a43da_0_85:notes">
            <a:extLst>
              <a:ext uri="{FF2B5EF4-FFF2-40B4-BE49-F238E27FC236}">
                <a16:creationId xmlns:a16="http://schemas.microsoft.com/office/drawing/2014/main" id="{3E8B926D-46C5-9C50-3DE5-D00ADF0149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822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16163a43da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16163a43da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16163a43d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16163a43da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16163a43da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16163a43da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16163a43da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16163a43da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3.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3.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notesSlide" Target="../notesSlides/notesSlide10.xml" /><Relationship Id="rId1" Type="http://schemas.openxmlformats.org/officeDocument/2006/relationships/slideLayout" Target="../slideLayouts/slideLayout1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3.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3.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3.xml" /></Relationships>
</file>

<file path=ppt/slides/_rels/slide16.xml.rels><?xml version="1.0" encoding="UTF-8" standalone="yes"?>
<Relationships xmlns="http://schemas.openxmlformats.org/package/2006/relationships"><Relationship Id="rId8" Type="http://schemas.openxmlformats.org/officeDocument/2006/relationships/hyperlink" Target="https://www.gamedev.net/" TargetMode="External" /><Relationship Id="rId3" Type="http://schemas.openxmlformats.org/officeDocument/2006/relationships/hyperlink" Target="https://www.tutorialspoint.com/" TargetMode="External" /><Relationship Id="rId7" Type="http://schemas.openxmlformats.org/officeDocument/2006/relationships/hyperlink" Target="https://learn.microsoft.com/" TargetMode="External" /><Relationship Id="rId2" Type="http://schemas.openxmlformats.org/officeDocument/2006/relationships/notesSlide" Target="../notesSlides/notesSlide14.xml" /><Relationship Id="rId1" Type="http://schemas.openxmlformats.org/officeDocument/2006/relationships/slideLayout" Target="../slideLayouts/slideLayout3.xml" /><Relationship Id="rId6" Type="http://schemas.openxmlformats.org/officeDocument/2006/relationships/hyperlink" Target="https://www.codewithharry.com/" TargetMode="External" /><Relationship Id="rId5" Type="http://schemas.openxmlformats.org/officeDocument/2006/relationships/hyperlink" Target="https://www.researchgate.net/" TargetMode="External" /><Relationship Id="rId4" Type="http://schemas.openxmlformats.org/officeDocument/2006/relationships/hyperlink" Target="https://www.geeksforgeeks.org/"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1800" dirty="0"/>
              <a:t>FIRE ESCAPE GAME</a:t>
            </a:r>
            <a:br>
              <a:rPr lang="en" sz="1800" dirty="0"/>
            </a:br>
            <a:r>
              <a:rPr lang="en" sz="1800" dirty="0"/>
              <a:t>(J1 BATCH-GROUP NO)</a:t>
            </a:r>
            <a:endParaRPr sz="1800" dirty="0"/>
          </a:p>
        </p:txBody>
      </p:sp>
      <p:sp>
        <p:nvSpPr>
          <p:cNvPr id="67" name="Google Shape;67;p13"/>
          <p:cNvSpPr txBox="1">
            <a:spLocks noGrp="1"/>
          </p:cNvSpPr>
          <p:nvPr>
            <p:ph type="subTitle" idx="1"/>
          </p:nvPr>
        </p:nvSpPr>
        <p:spPr>
          <a:xfrm>
            <a:off x="1753850" y="2675063"/>
            <a:ext cx="2914186" cy="1465203"/>
          </a:xfrm>
          <a:prstGeom prst="rect">
            <a:avLst/>
          </a:prstGeom>
        </p:spPr>
        <p:txBody>
          <a:bodyPr spcFirstLastPara="1" wrap="square" lIns="91425" tIns="91425" rIns="91425" bIns="91425" anchor="t" anchorCtr="0">
            <a:normAutofit fontScale="92500" lnSpcReduction="20000"/>
          </a:bodyPr>
          <a:lstStyle/>
          <a:p>
            <a:pPr marL="0" lvl="0" indent="0" algn="ctr" rtl="0">
              <a:lnSpc>
                <a:spcPct val="80000"/>
              </a:lnSpc>
              <a:spcBef>
                <a:spcPts val="0"/>
              </a:spcBef>
              <a:spcAft>
                <a:spcPts val="0"/>
              </a:spcAft>
              <a:buNone/>
            </a:pPr>
            <a:r>
              <a:rPr lang="en" sz="1200" b="1" dirty="0">
                <a:solidFill>
                  <a:srgbClr val="060507"/>
                </a:solidFill>
              </a:rPr>
              <a:t>:Team Members:</a:t>
            </a:r>
          </a:p>
          <a:p>
            <a:pPr marL="0" lvl="0" indent="0" algn="ctr" rtl="0">
              <a:lnSpc>
                <a:spcPct val="80000"/>
              </a:lnSpc>
              <a:spcBef>
                <a:spcPts val="0"/>
              </a:spcBef>
              <a:spcAft>
                <a:spcPts val="0"/>
              </a:spcAft>
              <a:buNone/>
            </a:pPr>
            <a:endParaRPr lang="en" sz="1200" b="1" dirty="0">
              <a:solidFill>
                <a:srgbClr val="060507"/>
              </a:solidFill>
            </a:endParaRPr>
          </a:p>
          <a:p>
            <a:pPr marL="0" lvl="0" indent="0" algn="ctr" rtl="0">
              <a:lnSpc>
                <a:spcPct val="80000"/>
              </a:lnSpc>
              <a:spcBef>
                <a:spcPts val="0"/>
              </a:spcBef>
              <a:spcAft>
                <a:spcPts val="0"/>
              </a:spcAft>
              <a:buNone/>
            </a:pPr>
            <a:r>
              <a:rPr lang="en" sz="1200" b="1" dirty="0">
                <a:solidFill>
                  <a:srgbClr val="060507"/>
                </a:solidFill>
              </a:rPr>
              <a:t>Pratiksha Kumari(1262253816)</a:t>
            </a:r>
          </a:p>
          <a:p>
            <a:pPr marL="0" lvl="0" indent="0" algn="ctr" rtl="0">
              <a:lnSpc>
                <a:spcPct val="80000"/>
              </a:lnSpc>
              <a:spcBef>
                <a:spcPts val="0"/>
              </a:spcBef>
              <a:spcAft>
                <a:spcPts val="0"/>
              </a:spcAft>
              <a:buNone/>
            </a:pPr>
            <a:endParaRPr sz="1200" b="1" dirty="0">
              <a:solidFill>
                <a:srgbClr val="060507"/>
              </a:solidFill>
            </a:endParaRPr>
          </a:p>
          <a:p>
            <a:pPr marL="0" indent="0">
              <a:lnSpc>
                <a:spcPct val="80000"/>
              </a:lnSpc>
            </a:pPr>
            <a:r>
              <a:rPr lang="en-IN" sz="1200" b="1" dirty="0">
                <a:solidFill>
                  <a:srgbClr val="060507"/>
                </a:solidFill>
              </a:rPr>
              <a:t>Anushka Jain </a:t>
            </a:r>
            <a:r>
              <a:rPr lang="en" sz="1200" b="1" dirty="0">
                <a:solidFill>
                  <a:srgbClr val="060507"/>
                </a:solidFill>
              </a:rPr>
              <a:t>(1262253372)</a:t>
            </a:r>
          </a:p>
          <a:p>
            <a:pPr marL="0" indent="0">
              <a:lnSpc>
                <a:spcPct val="80000"/>
              </a:lnSpc>
            </a:pPr>
            <a:endParaRPr sz="1200" b="1" dirty="0">
              <a:solidFill>
                <a:srgbClr val="060507"/>
              </a:solidFill>
            </a:endParaRPr>
          </a:p>
          <a:p>
            <a:pPr marL="0" lvl="0" indent="0">
              <a:lnSpc>
                <a:spcPct val="80000"/>
              </a:lnSpc>
            </a:pPr>
            <a:r>
              <a:rPr lang="en" sz="1200" b="1" dirty="0">
                <a:solidFill>
                  <a:srgbClr val="060507"/>
                </a:solidFill>
              </a:rPr>
              <a:t>Diya Salvi(</a:t>
            </a:r>
            <a:r>
              <a:rPr lang="en-IN" sz="1200" b="1" dirty="0">
                <a:solidFill>
                  <a:srgbClr val="060507"/>
                </a:solidFill>
              </a:rPr>
              <a:t>1262251990</a:t>
            </a:r>
            <a:r>
              <a:rPr lang="en" sz="1200" b="1" dirty="0">
                <a:solidFill>
                  <a:srgbClr val="060507"/>
                </a:solidFill>
              </a:rPr>
              <a:t>)</a:t>
            </a:r>
          </a:p>
          <a:p>
            <a:pPr marL="0" lvl="0" indent="0">
              <a:lnSpc>
                <a:spcPct val="80000"/>
              </a:lnSpc>
            </a:pPr>
            <a:endParaRPr sz="1200" b="1" dirty="0">
              <a:solidFill>
                <a:srgbClr val="060507"/>
              </a:solidFill>
            </a:endParaRPr>
          </a:p>
          <a:p>
            <a:pPr marL="0" lvl="0" indent="0" algn="ctr" rtl="0">
              <a:lnSpc>
                <a:spcPct val="80000"/>
              </a:lnSpc>
              <a:spcBef>
                <a:spcPts val="0"/>
              </a:spcBef>
              <a:spcAft>
                <a:spcPts val="0"/>
              </a:spcAft>
              <a:buNone/>
            </a:pPr>
            <a:r>
              <a:rPr lang="en" sz="1200" b="1" dirty="0">
                <a:solidFill>
                  <a:srgbClr val="060507"/>
                </a:solidFill>
              </a:rPr>
              <a:t>Aarya Birwadkar(12</a:t>
            </a:r>
            <a:r>
              <a:rPr lang="en-IN" sz="1200" b="1" dirty="0">
                <a:solidFill>
                  <a:srgbClr val="060507"/>
                </a:solidFill>
              </a:rPr>
              <a:t>6</a:t>
            </a:r>
            <a:r>
              <a:rPr lang="en" sz="1200" b="1" dirty="0">
                <a:solidFill>
                  <a:srgbClr val="060507"/>
                </a:solidFill>
              </a:rPr>
              <a:t>2252502)</a:t>
            </a:r>
          </a:p>
          <a:p>
            <a:pPr marL="0" lvl="0" indent="0" algn="ctr" rtl="0">
              <a:lnSpc>
                <a:spcPct val="80000"/>
              </a:lnSpc>
              <a:spcBef>
                <a:spcPts val="0"/>
              </a:spcBef>
              <a:spcAft>
                <a:spcPts val="0"/>
              </a:spcAft>
              <a:buNone/>
            </a:pPr>
            <a:endParaRPr sz="1200" b="1" dirty="0">
              <a:solidFill>
                <a:srgbClr val="060507"/>
              </a:solidFill>
            </a:endParaRPr>
          </a:p>
          <a:p>
            <a:pPr marL="0" lvl="0" indent="0" algn="ctr" rtl="0">
              <a:lnSpc>
                <a:spcPct val="80000"/>
              </a:lnSpc>
              <a:spcBef>
                <a:spcPts val="0"/>
              </a:spcBef>
              <a:spcAft>
                <a:spcPts val="0"/>
              </a:spcAft>
              <a:buNone/>
            </a:pPr>
            <a:r>
              <a:rPr lang="en" sz="1200" b="1" dirty="0">
                <a:solidFill>
                  <a:srgbClr val="060507"/>
                </a:solidFill>
              </a:rPr>
              <a:t>Manvendar Rajpurohit(1262251090</a:t>
            </a:r>
            <a:r>
              <a:rPr lang="en" sz="900" b="1" dirty="0">
                <a:solidFill>
                  <a:srgbClr val="060507"/>
                </a:solidFill>
              </a:rPr>
              <a:t>)</a:t>
            </a:r>
            <a:endParaRPr sz="900" b="1" dirty="0">
              <a:solidFill>
                <a:srgbClr val="060507"/>
              </a:solidFill>
            </a:endParaRPr>
          </a:p>
        </p:txBody>
      </p:sp>
      <p:sp>
        <p:nvSpPr>
          <p:cNvPr id="68" name="Google Shape;68;p13"/>
          <p:cNvSpPr txBox="1">
            <a:spLocks noGrp="1"/>
          </p:cNvSpPr>
          <p:nvPr>
            <p:ph type="subTitle" idx="1"/>
          </p:nvPr>
        </p:nvSpPr>
        <p:spPr>
          <a:xfrm>
            <a:off x="5270809" y="2759753"/>
            <a:ext cx="2017698" cy="1171200"/>
          </a:xfrm>
          <a:prstGeom prst="rect">
            <a:avLst/>
          </a:prstGeom>
        </p:spPr>
        <p:txBody>
          <a:bodyPr spcFirstLastPara="1" wrap="square" lIns="91425" tIns="91425" rIns="91425" bIns="91425" anchor="t" anchorCtr="0">
            <a:normAutofit/>
          </a:bodyPr>
          <a:lstStyle/>
          <a:p>
            <a:pPr marL="0" lvl="0" indent="0" algn="ctr" rtl="0">
              <a:lnSpc>
                <a:spcPct val="80000"/>
              </a:lnSpc>
              <a:spcBef>
                <a:spcPts val="0"/>
              </a:spcBef>
              <a:spcAft>
                <a:spcPts val="0"/>
              </a:spcAft>
              <a:buNone/>
            </a:pPr>
            <a:r>
              <a:rPr lang="en" sz="1400" b="1" dirty="0">
                <a:solidFill>
                  <a:srgbClr val="080300"/>
                </a:solidFill>
              </a:rPr>
              <a:t>:Guided By:</a:t>
            </a:r>
            <a:endParaRPr sz="1400" b="1" dirty="0">
              <a:solidFill>
                <a:srgbClr val="080300"/>
              </a:solidFill>
            </a:endParaRPr>
          </a:p>
          <a:p>
            <a:pPr marL="0" lvl="0" indent="0" algn="ctr" rtl="0">
              <a:lnSpc>
                <a:spcPct val="80000"/>
              </a:lnSpc>
              <a:spcBef>
                <a:spcPts val="0"/>
              </a:spcBef>
              <a:spcAft>
                <a:spcPts val="0"/>
              </a:spcAft>
              <a:buNone/>
            </a:pPr>
            <a:r>
              <a:rPr lang="en" sz="1400" b="1" dirty="0">
                <a:solidFill>
                  <a:srgbClr val="080300"/>
                </a:solidFill>
              </a:rPr>
              <a:t>Faculty Name</a:t>
            </a:r>
          </a:p>
          <a:p>
            <a:pPr marL="0" lvl="0" indent="0" algn="ctr" rtl="0">
              <a:lnSpc>
                <a:spcPct val="80000"/>
              </a:lnSpc>
              <a:spcBef>
                <a:spcPts val="0"/>
              </a:spcBef>
              <a:spcAft>
                <a:spcPts val="0"/>
              </a:spcAft>
              <a:buNone/>
            </a:pPr>
            <a:r>
              <a:rPr lang="en" sz="1400" b="1" dirty="0">
                <a:solidFill>
                  <a:srgbClr val="080300"/>
                </a:solidFill>
              </a:rPr>
              <a:t>Dr.Renuka Amit Mane</a:t>
            </a:r>
            <a:endParaRPr sz="1400" b="1" dirty="0">
              <a:solidFill>
                <a:srgbClr val="080300"/>
              </a:solidFill>
            </a:endParaRPr>
          </a:p>
        </p:txBody>
      </p:sp>
      <p:pic>
        <p:nvPicPr>
          <p:cNvPr id="69" name="Google Shape;69;p13"/>
          <p:cNvPicPr preferRelativeResize="0"/>
          <p:nvPr/>
        </p:nvPicPr>
        <p:blipFill>
          <a:blip r:embed="rId3">
            <a:alphaModFix/>
          </a:blip>
          <a:stretch>
            <a:fillRect/>
          </a:stretch>
        </p:blipFill>
        <p:spPr>
          <a:xfrm>
            <a:off x="3280775" y="58450"/>
            <a:ext cx="2774523" cy="856226"/>
          </a:xfrm>
          <a:prstGeom prst="rect">
            <a:avLst/>
          </a:prstGeom>
          <a:noFill/>
          <a:ln>
            <a:noFill/>
          </a:ln>
        </p:spPr>
      </p:pic>
      <p:sp>
        <p:nvSpPr>
          <p:cNvPr id="70" name="Google Shape;70;p13"/>
          <p:cNvSpPr txBox="1"/>
          <p:nvPr/>
        </p:nvSpPr>
        <p:spPr>
          <a:xfrm>
            <a:off x="199150" y="1180575"/>
            <a:ext cx="8474700" cy="923299"/>
          </a:xfrm>
          <a:prstGeom prst="rect">
            <a:avLst/>
          </a:prstGeom>
          <a:noFill/>
          <a:ln>
            <a:noFill/>
          </a:ln>
        </p:spPr>
        <p:txBody>
          <a:bodyPr spcFirstLastPara="1" wrap="square" lIns="91425" tIns="91425" rIns="91425" bIns="91425" anchor="t" anchorCtr="0">
            <a:spAutoFit/>
          </a:bodyPr>
          <a:lstStyle/>
          <a:p>
            <a:pPr algn="ctr"/>
            <a:r>
              <a:rPr lang="en-IN" sz="2400" b="1" dirty="0">
                <a:solidFill>
                  <a:srgbClr val="0070C0"/>
                </a:solidFill>
              </a:rPr>
              <a:t>Foundations of Programming-CSE10010</a:t>
            </a:r>
            <a:endParaRPr lang="en-US" sz="2400" b="1" dirty="0">
              <a:solidFill>
                <a:srgbClr val="0070C0"/>
              </a:solidFill>
            </a:endParaRPr>
          </a:p>
          <a:p>
            <a:pPr marL="0" lvl="0" indent="0" algn="ctr" rtl="0">
              <a:spcBef>
                <a:spcPts val="0"/>
              </a:spcBef>
              <a:spcAft>
                <a:spcPts val="0"/>
              </a:spcAft>
              <a:buNone/>
            </a:pPr>
            <a:r>
              <a:rPr lang="en" sz="2400" b="1" dirty="0">
                <a:solidFill>
                  <a:srgbClr val="0070C0"/>
                </a:solidFill>
                <a:latin typeface="PT Sans Narrow"/>
                <a:ea typeface="PT Sans Narrow"/>
                <a:cs typeface="PT Sans Narrow"/>
                <a:sym typeface="PT Sans Narrow"/>
              </a:rPr>
              <a:t> Mini Project Presentation 2025-26</a:t>
            </a:r>
            <a:endParaRPr sz="2400">
              <a:solidFill>
                <a:srgbClr val="0070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Content</a:t>
            </a:r>
            <a:endParaRPr/>
          </a:p>
        </p:txBody>
      </p:sp>
      <p:sp>
        <p:nvSpPr>
          <p:cNvPr id="76" name="Google Shape;76;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Introduction and Motivation</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Problem Statement and Objectives</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Individual Contribution</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Summary of Literature Survey</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Proposed System</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Hardware and Software Requirements</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Implementation and Experimental Setup</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Results and Conclusions</a:t>
            </a:r>
            <a:endParaRPr dirty="0">
              <a:solidFill>
                <a:srgbClr val="080300"/>
              </a:solidFill>
              <a:latin typeface="MS UI Gothic" panose="020B0600070205080204" pitchFamily="34" charset="-128"/>
              <a:ea typeface="MS UI Gothic" panose="020B0600070205080204" pitchFamily="34" charset="-128"/>
            </a:endParaRPr>
          </a:p>
          <a:p>
            <a:pPr marL="457200" lvl="0" indent="-342900" algn="l" rtl="0">
              <a:spcBef>
                <a:spcPts val="0"/>
              </a:spcBef>
              <a:spcAft>
                <a:spcPts val="0"/>
              </a:spcAft>
              <a:buSzPts val="1800"/>
              <a:buChar char="●"/>
            </a:pPr>
            <a:r>
              <a:rPr lang="en" dirty="0">
                <a:solidFill>
                  <a:srgbClr val="080300"/>
                </a:solidFill>
                <a:latin typeface="MS UI Gothic" panose="020B0600070205080204" pitchFamily="34" charset="-128"/>
                <a:ea typeface="MS UI Gothic" panose="020B0600070205080204" pitchFamily="34" charset="-128"/>
              </a:rPr>
              <a:t>References</a:t>
            </a:r>
            <a:endParaRPr dirty="0">
              <a:solidFill>
                <a:srgbClr val="080300"/>
              </a:solidFill>
              <a:latin typeface="MS UI Gothic" panose="020B0600070205080204" pitchFamily="34" charset="-128"/>
              <a:ea typeface="MS UI Gothic"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Introduction and Motivation</a:t>
            </a:r>
            <a:endParaRPr dirty="0"/>
          </a:p>
        </p:txBody>
      </p:sp>
      <p:sp>
        <p:nvSpPr>
          <p:cNvPr id="82" name="Google Shape;82;p1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r>
              <a:rPr lang="en-US" dirty="0">
                <a:solidFill>
                  <a:srgbClr val="080300"/>
                </a:solidFill>
                <a:latin typeface="+mn-lt"/>
              </a:rPr>
              <a:t>The </a:t>
            </a:r>
            <a:r>
              <a:rPr lang="en-US" b="1" dirty="0">
                <a:solidFill>
                  <a:srgbClr val="080300"/>
                </a:solidFill>
                <a:latin typeface="+mn-lt"/>
              </a:rPr>
              <a:t>Fire Escape Game</a:t>
            </a:r>
            <a:r>
              <a:rPr lang="en-US" dirty="0">
                <a:solidFill>
                  <a:srgbClr val="080300"/>
                </a:solidFill>
                <a:latin typeface="+mn-lt"/>
              </a:rPr>
              <a:t> is a console-based interactive game developed using the C programming language. The game is designed on a 25×25 grid where the player starts at the top-left corner and must reach the exit located at the bottom-right corner while avoiding dynamically spreading fire and obstacles.</a:t>
            </a:r>
          </a:p>
          <a:p>
            <a:r>
              <a:rPr lang="en-US" dirty="0">
                <a:solidFill>
                  <a:srgbClr val="080300"/>
                </a:solidFill>
                <a:latin typeface="+mn-lt"/>
              </a:rPr>
              <a:t>This project demonstrates the practical implementation of fundamental programming concepts such as:</a:t>
            </a:r>
          </a:p>
          <a:p>
            <a:r>
              <a:rPr lang="en-US" dirty="0">
                <a:solidFill>
                  <a:srgbClr val="080300"/>
                </a:solidFill>
                <a:latin typeface="+mn-lt"/>
              </a:rPr>
              <a:t>2D arrays for grid representation </a:t>
            </a:r>
          </a:p>
          <a:p>
            <a:r>
              <a:rPr lang="en-US" dirty="0">
                <a:solidFill>
                  <a:srgbClr val="080300"/>
                </a:solidFill>
                <a:latin typeface="+mn-lt"/>
              </a:rPr>
              <a:t>Loops and conditionals for game logic </a:t>
            </a:r>
          </a:p>
          <a:p>
            <a:r>
              <a:rPr lang="en-US" dirty="0">
                <a:solidFill>
                  <a:srgbClr val="080300"/>
                </a:solidFill>
                <a:latin typeface="+mn-lt"/>
              </a:rPr>
              <a:t>Functions for modular design </a:t>
            </a:r>
          </a:p>
          <a:p>
            <a:r>
              <a:rPr lang="en-US" dirty="0">
                <a:solidFill>
                  <a:srgbClr val="080300"/>
                </a:solidFill>
                <a:latin typeface="+mn-lt"/>
              </a:rPr>
              <a:t>File handling for storing scores and history </a:t>
            </a:r>
          </a:p>
          <a:p>
            <a:r>
              <a:rPr lang="en-US" dirty="0">
                <a:solidFill>
                  <a:srgbClr val="080300"/>
                </a:solidFill>
                <a:latin typeface="+mn-lt"/>
              </a:rPr>
              <a:t>Real-time input handling using </a:t>
            </a:r>
            <a:r>
              <a:rPr lang="en-US" dirty="0" err="1">
                <a:solidFill>
                  <a:srgbClr val="080300"/>
                </a:solidFill>
                <a:latin typeface="+mn-lt"/>
              </a:rPr>
              <a:t>kbhit</a:t>
            </a:r>
            <a:r>
              <a:rPr lang="en-US" dirty="0">
                <a:solidFill>
                  <a:srgbClr val="080300"/>
                </a:solidFill>
                <a:latin typeface="+mn-lt"/>
              </a:rPr>
              <a:t>() and </a:t>
            </a:r>
            <a:r>
              <a:rPr lang="en-US" dirty="0" err="1">
                <a:solidFill>
                  <a:srgbClr val="080300"/>
                </a:solidFill>
                <a:latin typeface="+mn-lt"/>
              </a:rPr>
              <a:t>getch</a:t>
            </a:r>
            <a:r>
              <a:rPr lang="en-US" dirty="0">
                <a:solidFill>
                  <a:srgbClr val="080300"/>
                </a:solidFill>
                <a:latin typeface="+mn-lt"/>
              </a:rPr>
              <a:t>() </a:t>
            </a:r>
          </a:p>
          <a:p>
            <a:r>
              <a:rPr lang="en-US" dirty="0">
                <a:solidFill>
                  <a:srgbClr val="080300"/>
                </a:solidFill>
                <a:latin typeface="+mn-lt"/>
              </a:rPr>
              <a:t>Additionally, the use of Windows-specific libraries enables features like cursor control, color display, and sound effects, enhancing the overall user experience. The game runs continuously using a game loop, making it responsive and interactive.</a:t>
            </a:r>
          </a:p>
          <a:p>
            <a:pPr marL="0" lvl="0" indent="0" algn="l" rtl="0">
              <a:spcBef>
                <a:spcPts val="0"/>
              </a:spcBef>
              <a:spcAft>
                <a:spcPts val="12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D9D664-09D5-23F9-9E28-D4120C739E0F}"/>
              </a:ext>
            </a:extLst>
          </p:cNvPr>
          <p:cNvSpPr txBox="1"/>
          <p:nvPr/>
        </p:nvSpPr>
        <p:spPr>
          <a:xfrm>
            <a:off x="0" y="161134"/>
            <a:ext cx="8943278" cy="4739759"/>
          </a:xfrm>
          <a:prstGeom prst="rect">
            <a:avLst/>
          </a:prstGeom>
          <a:noFill/>
        </p:spPr>
        <p:txBody>
          <a:bodyPr wrap="square" rtlCol="0">
            <a:spAutoFit/>
          </a:bodyPr>
          <a:lstStyle/>
          <a:p>
            <a:r>
              <a:rPr lang="en-US" sz="1600" dirty="0">
                <a:latin typeface="MS UI Gothic" panose="020B0600070205080204" pitchFamily="34" charset="-128"/>
                <a:ea typeface="MS UI Gothic" panose="020B0600070205080204" pitchFamily="34" charset="-128"/>
                <a:cs typeface="Open Sans" panose="020B0606030504020204" pitchFamily="34" charset="0"/>
              </a:rPr>
              <a:t>The primary motivation behind developing this project was to move beyond basic theoretical programs and build something </a:t>
            </a:r>
            <a:r>
              <a:rPr lang="en-US" sz="1600" b="1" dirty="0">
                <a:latin typeface="MS UI Gothic" panose="020B0600070205080204" pitchFamily="34" charset="-128"/>
                <a:ea typeface="MS UI Gothic" panose="020B0600070205080204" pitchFamily="34" charset="-128"/>
                <a:cs typeface="Open Sans" panose="020B0606030504020204" pitchFamily="34" charset="0"/>
              </a:rPr>
              <a:t>interactive, engaging, and practical</a:t>
            </a:r>
            <a:r>
              <a:rPr lang="en-US" sz="1600" dirty="0">
                <a:latin typeface="MS UI Gothic" panose="020B0600070205080204" pitchFamily="34" charset="-128"/>
                <a:ea typeface="MS UI Gothic" panose="020B0600070205080204" pitchFamily="34" charset="-128"/>
                <a:cs typeface="Open Sans" panose="020B0606030504020204" pitchFamily="34" charset="0"/>
              </a:rPr>
              <a:t> using C programming.</a:t>
            </a:r>
          </a:p>
          <a:p>
            <a:r>
              <a:rPr lang="en-US" sz="1600" dirty="0">
                <a:latin typeface="MS UI Gothic" panose="020B0600070205080204" pitchFamily="34" charset="-128"/>
                <a:ea typeface="MS UI Gothic" panose="020B0600070205080204" pitchFamily="34" charset="-128"/>
                <a:cs typeface="Open Sans" panose="020B0606030504020204" pitchFamily="34" charset="0"/>
              </a:rPr>
              <a:t>Key motivations include:</a:t>
            </a:r>
          </a:p>
          <a:p>
            <a:r>
              <a:rPr lang="en-US" sz="1600" b="1" dirty="0">
                <a:latin typeface="MS UI Gothic" panose="020B0600070205080204" pitchFamily="34" charset="-128"/>
                <a:ea typeface="MS UI Gothic" panose="020B0600070205080204" pitchFamily="34" charset="-128"/>
                <a:cs typeface="Open Sans" panose="020B0606030504020204" pitchFamily="34" charset="0"/>
              </a:rPr>
              <a:t>Applying Concepts Practically</a:t>
            </a:r>
            <a:br>
              <a:rPr lang="en-US" sz="1600" dirty="0">
                <a:latin typeface="MS UI Gothic" panose="020B0600070205080204" pitchFamily="34" charset="-128"/>
                <a:ea typeface="MS UI Gothic" panose="020B0600070205080204" pitchFamily="34" charset="-128"/>
                <a:cs typeface="Open Sans" panose="020B0606030504020204" pitchFamily="34" charset="0"/>
              </a:rPr>
            </a:br>
            <a:r>
              <a:rPr lang="en-US" sz="1600" dirty="0">
                <a:latin typeface="MS UI Gothic" panose="020B0600070205080204" pitchFamily="34" charset="-128"/>
                <a:ea typeface="MS UI Gothic" panose="020B0600070205080204" pitchFamily="34" charset="-128"/>
                <a:cs typeface="Open Sans" panose="020B0606030504020204" pitchFamily="34" charset="0"/>
              </a:rPr>
              <a:t>Instead of writing simple programs like calculators or pattern printing, this project combines multiple concepts into a single working application. </a:t>
            </a:r>
          </a:p>
          <a:p>
            <a:r>
              <a:rPr lang="en-US" sz="1600" b="1" dirty="0">
                <a:latin typeface="MS UI Gothic" panose="020B0600070205080204" pitchFamily="34" charset="-128"/>
                <a:ea typeface="MS UI Gothic" panose="020B0600070205080204" pitchFamily="34" charset="-128"/>
                <a:cs typeface="Open Sans" panose="020B0606030504020204" pitchFamily="34" charset="0"/>
              </a:rPr>
              <a:t>Understanding Real-Time Systems</a:t>
            </a:r>
            <a:br>
              <a:rPr lang="en-US" sz="1600" dirty="0">
                <a:latin typeface="MS UI Gothic" panose="020B0600070205080204" pitchFamily="34" charset="-128"/>
                <a:ea typeface="MS UI Gothic" panose="020B0600070205080204" pitchFamily="34" charset="-128"/>
                <a:cs typeface="Open Sans" panose="020B0606030504020204" pitchFamily="34" charset="0"/>
              </a:rPr>
            </a:br>
            <a:r>
              <a:rPr lang="en-US" sz="1600" dirty="0">
                <a:latin typeface="MS UI Gothic" panose="020B0600070205080204" pitchFamily="34" charset="-128"/>
                <a:ea typeface="MS UI Gothic" panose="020B0600070205080204" pitchFamily="34" charset="-128"/>
                <a:cs typeface="Open Sans" panose="020B0606030504020204" pitchFamily="34" charset="0"/>
              </a:rPr>
              <a:t>Games require continuous execution, real-time input handling, and dynamic updates, which helped in understanding how real-world software behaves. </a:t>
            </a:r>
          </a:p>
          <a:p>
            <a:r>
              <a:rPr lang="en-US" sz="1600" b="1" dirty="0">
                <a:latin typeface="MS UI Gothic" panose="020B0600070205080204" pitchFamily="34" charset="-128"/>
                <a:ea typeface="MS UI Gothic" panose="020B0600070205080204" pitchFamily="34" charset="-128"/>
                <a:cs typeface="Open Sans" panose="020B0606030504020204" pitchFamily="34" charset="0"/>
              </a:rPr>
              <a:t>Enhancing Problem-Solving Skills</a:t>
            </a:r>
            <a:br>
              <a:rPr lang="en-US" sz="1600" dirty="0">
                <a:latin typeface="MS UI Gothic" panose="020B0600070205080204" pitchFamily="34" charset="-128"/>
                <a:ea typeface="MS UI Gothic" panose="020B0600070205080204" pitchFamily="34" charset="-128"/>
                <a:cs typeface="Open Sans" panose="020B0606030504020204" pitchFamily="34" charset="0"/>
              </a:rPr>
            </a:br>
            <a:r>
              <a:rPr lang="en-US" sz="1600" dirty="0">
                <a:latin typeface="MS UI Gothic" panose="020B0600070205080204" pitchFamily="34" charset="-128"/>
                <a:ea typeface="MS UI Gothic" panose="020B0600070205080204" pitchFamily="34" charset="-128"/>
                <a:cs typeface="Open Sans" panose="020B0606030504020204" pitchFamily="34" charset="0"/>
              </a:rPr>
              <a:t>Designing features like fire spreading, collision detection, and difficulty scaling required logical thinking and algorithmic design. </a:t>
            </a:r>
          </a:p>
          <a:p>
            <a:r>
              <a:rPr lang="en-US" sz="1600" b="1" dirty="0">
                <a:latin typeface="MS UI Gothic" panose="020B0600070205080204" pitchFamily="34" charset="-128"/>
                <a:ea typeface="MS UI Gothic" panose="020B0600070205080204" pitchFamily="34" charset="-128"/>
                <a:cs typeface="Open Sans" panose="020B0606030504020204" pitchFamily="34" charset="0"/>
              </a:rPr>
              <a:t>Learning Modular Programming</a:t>
            </a:r>
            <a:br>
              <a:rPr lang="en-US" sz="1600" dirty="0">
                <a:latin typeface="MS UI Gothic" panose="020B0600070205080204" pitchFamily="34" charset="-128"/>
                <a:ea typeface="MS UI Gothic" panose="020B0600070205080204" pitchFamily="34" charset="-128"/>
                <a:cs typeface="Open Sans" panose="020B0606030504020204" pitchFamily="34" charset="0"/>
              </a:rPr>
            </a:br>
            <a:r>
              <a:rPr lang="en-US" sz="1600" dirty="0">
                <a:latin typeface="MS UI Gothic" panose="020B0600070205080204" pitchFamily="34" charset="-128"/>
                <a:ea typeface="MS UI Gothic" panose="020B0600070205080204" pitchFamily="34" charset="-128"/>
                <a:cs typeface="Open Sans" panose="020B0606030504020204" pitchFamily="34" charset="0"/>
              </a:rPr>
              <a:t>Breaking the program into functions like </a:t>
            </a:r>
            <a:r>
              <a:rPr lang="en-US" sz="1600" dirty="0" err="1">
                <a:latin typeface="MS UI Gothic" panose="020B0600070205080204" pitchFamily="34" charset="-128"/>
                <a:ea typeface="MS UI Gothic" panose="020B0600070205080204" pitchFamily="34" charset="-128"/>
                <a:cs typeface="Open Sans" panose="020B0606030504020204" pitchFamily="34" charset="0"/>
              </a:rPr>
              <a:t>movePlayer</a:t>
            </a:r>
            <a:r>
              <a:rPr lang="en-US" sz="1600" dirty="0">
                <a:latin typeface="MS UI Gothic" panose="020B0600070205080204" pitchFamily="34" charset="-128"/>
                <a:ea typeface="MS UI Gothic" panose="020B0600070205080204" pitchFamily="34" charset="-128"/>
                <a:cs typeface="Open Sans" panose="020B0606030504020204" pitchFamily="34" charset="0"/>
              </a:rPr>
              <a:t>(), </a:t>
            </a:r>
            <a:r>
              <a:rPr lang="en-US" sz="1600" dirty="0" err="1">
                <a:latin typeface="MS UI Gothic" panose="020B0600070205080204" pitchFamily="34" charset="-128"/>
                <a:ea typeface="MS UI Gothic" panose="020B0600070205080204" pitchFamily="34" charset="-128"/>
                <a:cs typeface="Open Sans" panose="020B0606030504020204" pitchFamily="34" charset="0"/>
              </a:rPr>
              <a:t>spreadFire</a:t>
            </a:r>
            <a:r>
              <a:rPr lang="en-US" sz="1600" dirty="0">
                <a:latin typeface="MS UI Gothic" panose="020B0600070205080204" pitchFamily="34" charset="-128"/>
                <a:ea typeface="MS UI Gothic" panose="020B0600070205080204" pitchFamily="34" charset="-128"/>
                <a:cs typeface="Open Sans" panose="020B0606030504020204" pitchFamily="34" charset="0"/>
              </a:rPr>
              <a:t>(), and menu() improved code organization and readability. </a:t>
            </a:r>
          </a:p>
          <a:p>
            <a:r>
              <a:rPr lang="en-US" sz="1600" b="1" dirty="0">
                <a:latin typeface="MS UI Gothic" panose="020B0600070205080204" pitchFamily="34" charset="-128"/>
                <a:ea typeface="MS UI Gothic" panose="020B0600070205080204" pitchFamily="34" charset="-128"/>
                <a:cs typeface="Open Sans" panose="020B0606030504020204" pitchFamily="34" charset="0"/>
              </a:rPr>
              <a:t>Building Something Creative and Fun</a:t>
            </a:r>
            <a:br>
              <a:rPr lang="en-US" sz="1600" dirty="0">
                <a:latin typeface="MS UI Gothic" panose="020B0600070205080204" pitchFamily="34" charset="-128"/>
                <a:ea typeface="MS UI Gothic" panose="020B0600070205080204" pitchFamily="34" charset="-128"/>
                <a:cs typeface="Open Sans" panose="020B0606030504020204" pitchFamily="34" charset="0"/>
              </a:rPr>
            </a:br>
            <a:r>
              <a:rPr lang="en-US" sz="1600" dirty="0">
                <a:latin typeface="MS UI Gothic" panose="020B0600070205080204" pitchFamily="34" charset="-128"/>
                <a:ea typeface="MS UI Gothic" panose="020B0600070205080204" pitchFamily="34" charset="-128"/>
                <a:cs typeface="Open Sans" panose="020B0606030504020204" pitchFamily="34" charset="0"/>
              </a:rPr>
              <a:t>Developing a game made the learning process more enjoyable and motivating compared to traditional coding exercises.</a:t>
            </a:r>
          </a:p>
          <a:p>
            <a:endParaRPr lang="en-IN" dirty="0"/>
          </a:p>
        </p:txBody>
      </p:sp>
    </p:spTree>
    <p:extLst>
      <p:ext uri="{BB962C8B-B14F-4D97-AF65-F5344CB8AC3E}">
        <p14:creationId xmlns:p14="http://schemas.microsoft.com/office/powerpoint/2010/main" val="2517013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Problem Statement and Objectives</a:t>
            </a:r>
            <a:endParaRPr/>
          </a:p>
        </p:txBody>
      </p:sp>
      <p:sp>
        <p:nvSpPr>
          <p:cNvPr id="88" name="Google Shape;88;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r>
              <a:rPr lang="en-US" b="1" dirty="0">
                <a:solidFill>
                  <a:srgbClr val="080300"/>
                </a:solidFill>
                <a:latin typeface="MS UI Gothic" panose="020B0600070205080204" pitchFamily="34" charset="-128"/>
                <a:ea typeface="MS UI Gothic" panose="020B0600070205080204" pitchFamily="34" charset="-128"/>
              </a:rPr>
              <a:t>Problem Statement:</a:t>
            </a:r>
            <a:br>
              <a:rPr lang="en-US" dirty="0">
                <a:solidFill>
                  <a:srgbClr val="080300"/>
                </a:solidFill>
                <a:latin typeface="MS UI Gothic" panose="020B0600070205080204" pitchFamily="34" charset="-128"/>
                <a:ea typeface="MS UI Gothic" panose="020B0600070205080204" pitchFamily="34" charset="-128"/>
              </a:rPr>
            </a:br>
            <a:r>
              <a:rPr lang="en-US" dirty="0">
                <a:solidFill>
                  <a:srgbClr val="080300"/>
                </a:solidFill>
                <a:latin typeface="MS UI Gothic" panose="020B0600070205080204" pitchFamily="34" charset="-128"/>
                <a:ea typeface="MS UI Gothic" panose="020B0600070205080204" pitchFamily="34" charset="-128"/>
              </a:rPr>
              <a:t>Develop a console-based Fire Escape Game in C where the player navigates a grid to reach the exit while avoiding spreading fire and obstacles.</a:t>
            </a:r>
          </a:p>
          <a:p>
            <a:r>
              <a:rPr lang="en-US" b="1" dirty="0">
                <a:solidFill>
                  <a:srgbClr val="080300"/>
                </a:solidFill>
                <a:latin typeface="MS UI Gothic" panose="020B0600070205080204" pitchFamily="34" charset="-128"/>
                <a:ea typeface="MS UI Gothic" panose="020B0600070205080204" pitchFamily="34" charset="-128"/>
              </a:rPr>
              <a:t>Objectives:</a:t>
            </a:r>
            <a:endParaRPr lang="en-US" dirty="0">
              <a:solidFill>
                <a:srgbClr val="080300"/>
              </a:solidFill>
              <a:latin typeface="MS UI Gothic" panose="020B0600070205080204" pitchFamily="34" charset="-128"/>
              <a:ea typeface="MS UI Gothic" panose="020B0600070205080204" pitchFamily="34" charset="-128"/>
            </a:endParaRPr>
          </a:p>
          <a:p>
            <a:r>
              <a:rPr lang="en-US" dirty="0">
                <a:solidFill>
                  <a:srgbClr val="080300"/>
                </a:solidFill>
                <a:latin typeface="MS UI Gothic" panose="020B0600070205080204" pitchFamily="34" charset="-128"/>
                <a:ea typeface="MS UI Gothic" panose="020B0600070205080204" pitchFamily="34" charset="-128"/>
              </a:rPr>
              <a:t>Apply core C concepts (arrays, loops, functions, file handling) </a:t>
            </a:r>
          </a:p>
          <a:p>
            <a:r>
              <a:rPr lang="en-US" dirty="0">
                <a:solidFill>
                  <a:srgbClr val="080300"/>
                </a:solidFill>
                <a:latin typeface="MS UI Gothic" panose="020B0600070205080204" pitchFamily="34" charset="-128"/>
                <a:ea typeface="MS UI Gothic" panose="020B0600070205080204" pitchFamily="34" charset="-128"/>
              </a:rPr>
              <a:t>Implement real-time player movement and game loop </a:t>
            </a:r>
          </a:p>
          <a:p>
            <a:r>
              <a:rPr lang="en-US" dirty="0">
                <a:solidFill>
                  <a:srgbClr val="080300"/>
                </a:solidFill>
                <a:latin typeface="MS UI Gothic" panose="020B0600070205080204" pitchFamily="34" charset="-128"/>
                <a:ea typeface="MS UI Gothic" panose="020B0600070205080204" pitchFamily="34" charset="-128"/>
              </a:rPr>
              <a:t>Design fire spreading and collision detection logic </a:t>
            </a:r>
          </a:p>
          <a:p>
            <a:r>
              <a:rPr lang="en-US" dirty="0">
                <a:solidFill>
                  <a:srgbClr val="080300"/>
                </a:solidFill>
                <a:latin typeface="MS UI Gothic" panose="020B0600070205080204" pitchFamily="34" charset="-128"/>
                <a:ea typeface="MS UI Gothic" panose="020B0600070205080204" pitchFamily="34" charset="-128"/>
              </a:rPr>
              <a:t>Add scoring system, difficulty levels, and leaderboard</a:t>
            </a:r>
          </a:p>
          <a:p>
            <a:pPr marL="0" lvl="0" indent="0" algn="l" rtl="0">
              <a:spcBef>
                <a:spcPts val="0"/>
              </a:spcBef>
              <a:spcAft>
                <a:spcPts val="12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Individual Contribution</a:t>
            </a:r>
            <a:endParaRPr dirty="0"/>
          </a:p>
        </p:txBody>
      </p:sp>
      <p:graphicFrame>
        <p:nvGraphicFramePr>
          <p:cNvPr id="94" name="Google Shape;94;p17"/>
          <p:cNvGraphicFramePr/>
          <p:nvPr>
            <p:extLst>
              <p:ext uri="{D42A27DB-BD31-4B8C-83A1-F6EECF244321}">
                <p14:modId xmlns:p14="http://schemas.microsoft.com/office/powerpoint/2010/main" val="3530201854"/>
              </p:ext>
            </p:extLst>
          </p:nvPr>
        </p:nvGraphicFramePr>
        <p:xfrm>
          <a:off x="929268" y="1619250"/>
          <a:ext cx="7262232" cy="2407770"/>
        </p:xfrm>
        <a:graphic>
          <a:graphicData uri="http://schemas.openxmlformats.org/drawingml/2006/table">
            <a:tbl>
              <a:tblPr>
                <a:tableStyleId>{26AB36B5-FDD1-49DB-954E-CDDC2A254018}</a:tableStyleId>
              </a:tblPr>
              <a:tblGrid>
                <a:gridCol w="3535926">
                  <a:extLst>
                    <a:ext uri="{9D8B030D-6E8A-4147-A177-3AD203B41FA5}">
                      <a16:colId xmlns:a16="http://schemas.microsoft.com/office/drawing/2014/main" val="20000"/>
                    </a:ext>
                  </a:extLst>
                </a:gridCol>
                <a:gridCol w="3726306">
                  <a:extLst>
                    <a:ext uri="{9D8B030D-6E8A-4147-A177-3AD203B41FA5}">
                      <a16:colId xmlns:a16="http://schemas.microsoft.com/office/drawing/2014/main" val="20001"/>
                    </a:ext>
                  </a:extLst>
                </a:gridCol>
              </a:tblGrid>
              <a:tr h="790681">
                <a:tc>
                  <a:txBody>
                    <a:bodyPr/>
                    <a:lstStyle/>
                    <a:p>
                      <a:pPr marL="0" lvl="0" indent="0" algn="ctr" rtl="0">
                        <a:spcBef>
                          <a:spcPts val="0"/>
                        </a:spcBef>
                        <a:spcAft>
                          <a:spcPts val="0"/>
                        </a:spcAft>
                        <a:buNone/>
                      </a:pPr>
                      <a:r>
                        <a:rPr lang="en" b="1" dirty="0">
                          <a:solidFill>
                            <a:srgbClr val="060507"/>
                          </a:solidFill>
                        </a:rPr>
                        <a:t>Name</a:t>
                      </a:r>
                      <a:endParaRPr b="1" dirty="0">
                        <a:solidFill>
                          <a:srgbClr val="060507"/>
                        </a:solidFill>
                      </a:endParaRPr>
                    </a:p>
                  </a:txBody>
                  <a:tcPr marL="91425" marR="91425" marT="91425" marB="91425"/>
                </a:tc>
                <a:tc>
                  <a:txBody>
                    <a:bodyPr/>
                    <a:lstStyle/>
                    <a:p>
                      <a:pPr marL="0" lvl="0" indent="0" algn="ctr" rtl="0">
                        <a:spcBef>
                          <a:spcPts val="0"/>
                        </a:spcBef>
                        <a:spcAft>
                          <a:spcPts val="0"/>
                        </a:spcAft>
                        <a:buNone/>
                      </a:pPr>
                      <a:r>
                        <a:rPr lang="en" b="1">
                          <a:solidFill>
                            <a:srgbClr val="060507"/>
                          </a:solidFill>
                        </a:rPr>
                        <a:t>Work</a:t>
                      </a:r>
                      <a:endParaRPr b="1">
                        <a:solidFill>
                          <a:srgbClr val="060507"/>
                        </a:solidFill>
                      </a:endParaRPr>
                    </a:p>
                    <a:p>
                      <a:pPr marL="0" lvl="0" indent="0" algn="ctr" rtl="0">
                        <a:spcBef>
                          <a:spcPts val="0"/>
                        </a:spcBef>
                        <a:spcAft>
                          <a:spcPts val="0"/>
                        </a:spcAft>
                        <a:buNone/>
                      </a:pPr>
                      <a:r>
                        <a:rPr lang="en" b="1">
                          <a:solidFill>
                            <a:srgbClr val="060507"/>
                          </a:solidFill>
                        </a:rPr>
                        <a:t>(Report/Presentation/Algorithm Design/Implementation) </a:t>
                      </a:r>
                      <a:endParaRPr b="1">
                        <a:solidFill>
                          <a:srgbClr val="060507"/>
                        </a:solidFill>
                      </a:endParaRPr>
                    </a:p>
                  </a:txBody>
                  <a:tcPr marL="91425" marR="91425" marT="91425" marB="91425"/>
                </a:tc>
                <a:extLst>
                  <a:ext uri="{0D108BD9-81ED-4DB2-BD59-A6C34878D82A}">
                    <a16:rowId xmlns:a16="http://schemas.microsoft.com/office/drawing/2014/main" val="10000"/>
                  </a:ext>
                </a:extLst>
              </a:tr>
              <a:tr h="380683">
                <a:tc>
                  <a:txBody>
                    <a:bodyPr/>
                    <a:lstStyle/>
                    <a:p>
                      <a:pPr marL="0" lvl="0" indent="0" algn="l" rtl="0">
                        <a:spcBef>
                          <a:spcPts val="0"/>
                        </a:spcBef>
                        <a:spcAft>
                          <a:spcPts val="0"/>
                        </a:spcAft>
                        <a:buNone/>
                      </a:pPr>
                      <a:r>
                        <a:rPr lang="en" sz="1400" dirty="0">
                          <a:solidFill>
                            <a:srgbClr val="060507"/>
                          </a:solidFill>
                        </a:rPr>
                        <a:t>Pratiksha Kumari</a:t>
                      </a:r>
                      <a:endParaRPr dirty="0">
                        <a:solidFill>
                          <a:srgbClr val="060507"/>
                        </a:solidFill>
                      </a:endParaRPr>
                    </a:p>
                  </a:txBody>
                  <a:tcPr marL="91425" marR="91425" marT="91425" marB="91425"/>
                </a:tc>
                <a:tc>
                  <a:txBody>
                    <a:bodyPr/>
                    <a:lstStyle/>
                    <a:p>
                      <a:pPr marL="0" lvl="0" indent="0" algn="l" rtl="0">
                        <a:spcBef>
                          <a:spcPts val="0"/>
                        </a:spcBef>
                        <a:spcAft>
                          <a:spcPts val="0"/>
                        </a:spcAft>
                        <a:buNone/>
                      </a:pPr>
                      <a:r>
                        <a:rPr lang="en-US" dirty="0">
                          <a:solidFill>
                            <a:srgbClr val="060507"/>
                          </a:solidFill>
                        </a:rPr>
                        <a:t>Presentation and debugging</a:t>
                      </a:r>
                      <a:endParaRPr dirty="0">
                        <a:solidFill>
                          <a:srgbClr val="060507"/>
                        </a:solidFill>
                      </a:endParaRPr>
                    </a:p>
                  </a:txBody>
                  <a:tcPr marL="91425" marR="91425" marT="91425" marB="91425"/>
                </a:tc>
                <a:extLst>
                  <a:ext uri="{0D108BD9-81ED-4DB2-BD59-A6C34878D82A}">
                    <a16:rowId xmlns:a16="http://schemas.microsoft.com/office/drawing/2014/main" val="10001"/>
                  </a:ext>
                </a:extLst>
              </a:tr>
              <a:tr h="380683">
                <a:tc>
                  <a:txBody>
                    <a:bodyPr/>
                    <a:lstStyle/>
                    <a:p>
                      <a:pPr marL="0" lvl="0" indent="0" algn="l" rtl="0">
                        <a:spcBef>
                          <a:spcPts val="0"/>
                        </a:spcBef>
                        <a:spcAft>
                          <a:spcPts val="0"/>
                        </a:spcAft>
                        <a:buNone/>
                      </a:pPr>
                      <a:r>
                        <a:rPr lang="en-IN" sz="1400" dirty="0">
                          <a:solidFill>
                            <a:srgbClr val="060507"/>
                          </a:solidFill>
                        </a:rPr>
                        <a:t>Anushka Jain </a:t>
                      </a:r>
                      <a:endParaRPr dirty="0">
                        <a:solidFill>
                          <a:srgbClr val="060507"/>
                        </a:solidFill>
                      </a:endParaRPr>
                    </a:p>
                  </a:txBody>
                  <a:tcPr marL="91425" marR="91425" marT="91425" marB="91425"/>
                </a:tc>
                <a:tc>
                  <a:txBody>
                    <a:bodyPr/>
                    <a:lstStyle/>
                    <a:p>
                      <a:pPr marL="0" lvl="0" indent="0" algn="l" rtl="0">
                        <a:spcBef>
                          <a:spcPts val="0"/>
                        </a:spcBef>
                        <a:spcAft>
                          <a:spcPts val="0"/>
                        </a:spcAft>
                        <a:buNone/>
                      </a:pPr>
                      <a:r>
                        <a:rPr lang="en-US" dirty="0">
                          <a:solidFill>
                            <a:srgbClr val="060507"/>
                          </a:solidFill>
                        </a:rPr>
                        <a:t>Report and algorithm</a:t>
                      </a:r>
                      <a:endParaRPr dirty="0">
                        <a:solidFill>
                          <a:srgbClr val="060507"/>
                        </a:solidFill>
                      </a:endParaRPr>
                    </a:p>
                  </a:txBody>
                  <a:tcPr marL="91425" marR="91425" marT="91425" marB="91425"/>
                </a:tc>
                <a:extLst>
                  <a:ext uri="{0D108BD9-81ED-4DB2-BD59-A6C34878D82A}">
                    <a16:rowId xmlns:a16="http://schemas.microsoft.com/office/drawing/2014/main" val="10002"/>
                  </a:ext>
                </a:extLst>
              </a:tr>
              <a:tr h="380683">
                <a:tc>
                  <a:txBody>
                    <a:bodyPr/>
                    <a:lstStyle/>
                    <a:p>
                      <a:pPr marL="0" lvl="0" indent="0" algn="l" rtl="0">
                        <a:spcBef>
                          <a:spcPts val="0"/>
                        </a:spcBef>
                        <a:spcAft>
                          <a:spcPts val="0"/>
                        </a:spcAft>
                        <a:buNone/>
                      </a:pPr>
                      <a:r>
                        <a:rPr lang="en" sz="1400" dirty="0">
                          <a:solidFill>
                            <a:srgbClr val="060507"/>
                          </a:solidFill>
                        </a:rPr>
                        <a:t>Diya Salvi</a:t>
                      </a:r>
                      <a:endParaRPr dirty="0">
                        <a:solidFill>
                          <a:srgbClr val="060507"/>
                        </a:solidFill>
                      </a:endParaRPr>
                    </a:p>
                  </a:txBody>
                  <a:tcPr marL="91425" marR="91425" marT="91425" marB="91425"/>
                </a:tc>
                <a:tc>
                  <a:txBody>
                    <a:bodyPr/>
                    <a:lstStyle/>
                    <a:p>
                      <a:pPr marL="0" lvl="0" indent="0" algn="l" rtl="0">
                        <a:spcBef>
                          <a:spcPts val="0"/>
                        </a:spcBef>
                        <a:spcAft>
                          <a:spcPts val="0"/>
                        </a:spcAft>
                        <a:buNone/>
                      </a:pPr>
                      <a:r>
                        <a:rPr lang="en-US" dirty="0">
                          <a:solidFill>
                            <a:srgbClr val="060507"/>
                          </a:solidFill>
                        </a:rPr>
                        <a:t>Presentation and research</a:t>
                      </a:r>
                      <a:endParaRPr dirty="0">
                        <a:solidFill>
                          <a:srgbClr val="060507"/>
                        </a:solidFill>
                      </a:endParaRPr>
                    </a:p>
                  </a:txBody>
                  <a:tcPr marL="91425" marR="91425" marT="91425" marB="91425"/>
                </a:tc>
                <a:extLst>
                  <a:ext uri="{0D108BD9-81ED-4DB2-BD59-A6C34878D82A}">
                    <a16:rowId xmlns:a16="http://schemas.microsoft.com/office/drawing/2014/main" val="10003"/>
                  </a:ext>
                </a:extLst>
              </a:tr>
              <a:tr h="380683">
                <a:tc>
                  <a:txBody>
                    <a:bodyPr/>
                    <a:lstStyle/>
                    <a:p>
                      <a:pPr marL="0" lvl="0" indent="0" algn="l" rtl="0">
                        <a:spcBef>
                          <a:spcPts val="0"/>
                        </a:spcBef>
                        <a:spcAft>
                          <a:spcPts val="0"/>
                        </a:spcAft>
                        <a:buNone/>
                      </a:pPr>
                      <a:r>
                        <a:rPr lang="en" sz="1400" dirty="0">
                          <a:solidFill>
                            <a:srgbClr val="060507"/>
                          </a:solidFill>
                        </a:rPr>
                        <a:t>Aarya Birwadkar</a:t>
                      </a:r>
                      <a:endParaRPr dirty="0">
                        <a:solidFill>
                          <a:srgbClr val="060507"/>
                        </a:solidFill>
                      </a:endParaRPr>
                    </a:p>
                  </a:txBody>
                  <a:tcPr marL="91425" marR="91425" marT="91425" marB="91425"/>
                </a:tc>
                <a:tc>
                  <a:txBody>
                    <a:bodyPr/>
                    <a:lstStyle/>
                    <a:p>
                      <a:pPr marL="0" lvl="0" indent="0" algn="l" rtl="0">
                        <a:spcBef>
                          <a:spcPts val="0"/>
                        </a:spcBef>
                        <a:spcAft>
                          <a:spcPts val="0"/>
                        </a:spcAft>
                        <a:buNone/>
                      </a:pPr>
                      <a:r>
                        <a:rPr lang="en-US" dirty="0">
                          <a:solidFill>
                            <a:srgbClr val="060507"/>
                          </a:solidFill>
                        </a:rPr>
                        <a:t>Report and algorithm</a:t>
                      </a:r>
                      <a:endParaRPr dirty="0">
                        <a:solidFill>
                          <a:srgbClr val="060507"/>
                        </a:solidFill>
                      </a:endParaRPr>
                    </a:p>
                  </a:txBody>
                  <a:tcPr marL="91425" marR="91425" marT="91425" marB="91425"/>
                </a:tc>
                <a:extLst>
                  <a:ext uri="{0D108BD9-81ED-4DB2-BD59-A6C34878D82A}">
                    <a16:rowId xmlns:a16="http://schemas.microsoft.com/office/drawing/2014/main" val="10004"/>
                  </a:ext>
                </a:extLst>
              </a:tr>
            </a:tbl>
          </a:graphicData>
        </a:graphic>
      </p:graphicFrame>
      <p:graphicFrame>
        <p:nvGraphicFramePr>
          <p:cNvPr id="2" name="Table 1">
            <a:extLst>
              <a:ext uri="{FF2B5EF4-FFF2-40B4-BE49-F238E27FC236}">
                <a16:creationId xmlns:a16="http://schemas.microsoft.com/office/drawing/2014/main" id="{AAF0865B-DF5A-178E-252E-1B0214F970A3}"/>
              </a:ext>
            </a:extLst>
          </p:cNvPr>
          <p:cNvGraphicFramePr>
            <a:graphicFrameLocks noGrp="1"/>
          </p:cNvGraphicFramePr>
          <p:nvPr>
            <p:extLst>
              <p:ext uri="{D42A27DB-BD31-4B8C-83A1-F6EECF244321}">
                <p14:modId xmlns:p14="http://schemas.microsoft.com/office/powerpoint/2010/main" val="3145142800"/>
              </p:ext>
            </p:extLst>
          </p:nvPr>
        </p:nvGraphicFramePr>
        <p:xfrm>
          <a:off x="929268" y="4027020"/>
          <a:ext cx="7262232" cy="370840"/>
        </p:xfrm>
        <a:graphic>
          <a:graphicData uri="http://schemas.openxmlformats.org/drawingml/2006/table">
            <a:tbl>
              <a:tblPr firstRow="1" bandRow="1">
                <a:tableStyleId>{26AB36B5-FDD1-49DB-954E-CDDC2A254018}</a:tableStyleId>
              </a:tblPr>
              <a:tblGrid>
                <a:gridCol w="7262232">
                  <a:extLst>
                    <a:ext uri="{9D8B030D-6E8A-4147-A177-3AD203B41FA5}">
                      <a16:colId xmlns:a16="http://schemas.microsoft.com/office/drawing/2014/main" val="104795440"/>
                    </a:ext>
                  </a:extLst>
                </a:gridCol>
              </a:tblGrid>
              <a:tr h="370840">
                <a:tc>
                  <a:txBody>
                    <a:bodyPr/>
                    <a:lstStyle/>
                    <a:p>
                      <a:r>
                        <a:rPr lang="en-US" dirty="0" err="1"/>
                        <a:t>Manvendar</a:t>
                      </a:r>
                      <a:r>
                        <a:rPr lang="en-US" dirty="0"/>
                        <a:t> Rajpurohit</a:t>
                      </a:r>
                      <a:endParaRPr lang="en-IN" dirty="0"/>
                    </a:p>
                  </a:txBody>
                  <a:tcPr/>
                </a:tc>
                <a:extLst>
                  <a:ext uri="{0D108BD9-81ED-4DB2-BD59-A6C34878D82A}">
                    <a16:rowId xmlns:a16="http://schemas.microsoft.com/office/drawing/2014/main" val="2571890501"/>
                  </a:ext>
                </a:extLst>
              </a:tr>
            </a:tbl>
          </a:graphicData>
        </a:graphic>
      </p:graphicFrame>
      <p:cxnSp>
        <p:nvCxnSpPr>
          <p:cNvPr id="4" name="Straight Connector 3">
            <a:extLst>
              <a:ext uri="{FF2B5EF4-FFF2-40B4-BE49-F238E27FC236}">
                <a16:creationId xmlns:a16="http://schemas.microsoft.com/office/drawing/2014/main" id="{8340E428-D629-6D80-B7C9-017834039414}"/>
              </a:ext>
            </a:extLst>
          </p:cNvPr>
          <p:cNvCxnSpPr>
            <a:cxnSpLocks/>
          </p:cNvCxnSpPr>
          <p:nvPr/>
        </p:nvCxnSpPr>
        <p:spPr>
          <a:xfrm>
            <a:off x="4460488" y="4027020"/>
            <a:ext cx="0" cy="370840"/>
          </a:xfrm>
          <a:prstGeom prst="line">
            <a:avLst/>
          </a:prstGeom>
          <a:ln>
            <a:solidFill>
              <a:srgbClr val="060507"/>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A68EA17-135C-9BB1-E1B9-D317D45C1F5D}"/>
              </a:ext>
            </a:extLst>
          </p:cNvPr>
          <p:cNvSpPr txBox="1"/>
          <p:nvPr/>
        </p:nvSpPr>
        <p:spPr>
          <a:xfrm>
            <a:off x="4460488" y="4017299"/>
            <a:ext cx="2207939" cy="307777"/>
          </a:xfrm>
          <a:prstGeom prst="rect">
            <a:avLst/>
          </a:prstGeom>
          <a:noFill/>
        </p:spPr>
        <p:txBody>
          <a:bodyPr wrap="square" rtlCol="0">
            <a:spAutoFit/>
          </a:bodyPr>
          <a:lstStyle/>
          <a:p>
            <a:r>
              <a:rPr lang="en-US" dirty="0"/>
              <a:t>Design and algorithm</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445514" y="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800" dirty="0"/>
              <a:t>Summary of Literature Survey</a:t>
            </a:r>
            <a:endParaRPr sz="2800" dirty="0"/>
          </a:p>
        </p:txBody>
      </p:sp>
      <p:graphicFrame>
        <p:nvGraphicFramePr>
          <p:cNvPr id="3" name="Table 2">
            <a:extLst>
              <a:ext uri="{FF2B5EF4-FFF2-40B4-BE49-F238E27FC236}">
                <a16:creationId xmlns:a16="http://schemas.microsoft.com/office/drawing/2014/main" id="{8043E64D-B9A4-F3F5-B470-9ED0AB351BF9}"/>
              </a:ext>
            </a:extLst>
          </p:cNvPr>
          <p:cNvGraphicFramePr>
            <a:graphicFrameLocks noGrp="1"/>
          </p:cNvGraphicFramePr>
          <p:nvPr>
            <p:extLst>
              <p:ext uri="{D42A27DB-BD31-4B8C-83A1-F6EECF244321}">
                <p14:modId xmlns:p14="http://schemas.microsoft.com/office/powerpoint/2010/main" val="3427866254"/>
              </p:ext>
            </p:extLst>
          </p:nvPr>
        </p:nvGraphicFramePr>
        <p:xfrm>
          <a:off x="471800" y="534553"/>
          <a:ext cx="8468028" cy="4541520"/>
        </p:xfrm>
        <a:graphic>
          <a:graphicData uri="http://schemas.openxmlformats.org/drawingml/2006/table">
            <a:tbl>
              <a:tblPr firstRow="1" bandRow="1">
                <a:tableStyleId>{26AB36B5-FDD1-49DB-954E-CDDC2A254018}</a:tableStyleId>
              </a:tblPr>
              <a:tblGrid>
                <a:gridCol w="2117007">
                  <a:extLst>
                    <a:ext uri="{9D8B030D-6E8A-4147-A177-3AD203B41FA5}">
                      <a16:colId xmlns:a16="http://schemas.microsoft.com/office/drawing/2014/main" val="3674222116"/>
                    </a:ext>
                  </a:extLst>
                </a:gridCol>
                <a:gridCol w="2117007">
                  <a:extLst>
                    <a:ext uri="{9D8B030D-6E8A-4147-A177-3AD203B41FA5}">
                      <a16:colId xmlns:a16="http://schemas.microsoft.com/office/drawing/2014/main" val="2755479323"/>
                    </a:ext>
                  </a:extLst>
                </a:gridCol>
                <a:gridCol w="2117007">
                  <a:extLst>
                    <a:ext uri="{9D8B030D-6E8A-4147-A177-3AD203B41FA5}">
                      <a16:colId xmlns:a16="http://schemas.microsoft.com/office/drawing/2014/main" val="3282422356"/>
                    </a:ext>
                  </a:extLst>
                </a:gridCol>
                <a:gridCol w="2117007">
                  <a:extLst>
                    <a:ext uri="{9D8B030D-6E8A-4147-A177-3AD203B41FA5}">
                      <a16:colId xmlns:a16="http://schemas.microsoft.com/office/drawing/2014/main" val="4216577913"/>
                    </a:ext>
                  </a:extLst>
                </a:gridCol>
              </a:tblGrid>
              <a:tr h="643015">
                <a:tc>
                  <a:txBody>
                    <a:bodyPr/>
                    <a:lstStyle/>
                    <a:p>
                      <a:pPr marL="0" lvl="0" indent="0" algn="ctr" rtl="0">
                        <a:spcBef>
                          <a:spcPts val="0"/>
                        </a:spcBef>
                        <a:spcAft>
                          <a:spcPts val="0"/>
                        </a:spcAft>
                        <a:buNone/>
                      </a:pPr>
                      <a:r>
                        <a:rPr lang="en-US" sz="1200" dirty="0"/>
                        <a:t>Paper Ref.</a:t>
                      </a:r>
                    </a:p>
                    <a:p>
                      <a:pPr marL="0" lvl="0" indent="0" algn="ctr" rtl="0">
                        <a:spcBef>
                          <a:spcPts val="0"/>
                        </a:spcBef>
                        <a:spcAft>
                          <a:spcPts val="0"/>
                        </a:spcAft>
                        <a:buNone/>
                      </a:pPr>
                      <a:r>
                        <a:rPr lang="en-US" sz="1200" dirty="0"/>
                        <a:t>(as per order of references)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Title of Paper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Method Used</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How is it useful for your project</a:t>
                      </a:r>
                    </a:p>
                    <a:p>
                      <a:endParaRPr lang="en-IN" dirty="0"/>
                    </a:p>
                  </a:txBody>
                  <a:tcPr/>
                </a:tc>
                <a:extLst>
                  <a:ext uri="{0D108BD9-81ED-4DB2-BD59-A6C34878D82A}">
                    <a16:rowId xmlns:a16="http://schemas.microsoft.com/office/drawing/2014/main" val="128930327"/>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Ref[1]</a:t>
                      </a:r>
                    </a:p>
                    <a:p>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Geeks for Geeks</a:t>
                      </a:r>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Game loop, grid arrays</a:t>
                      </a:r>
                      <a:endParaRPr lang="en-IN" dirty="0"/>
                    </a:p>
                  </a:txBody>
                  <a:tcPr/>
                </a:tc>
                <a:tc>
                  <a:txBody>
                    <a:bodyPr/>
                    <a:lstStyle/>
                    <a:p>
                      <a:r>
                        <a:rPr lang="en-US" dirty="0"/>
                        <a:t>Used to design the main game structure and grid-based movement.</a:t>
                      </a:r>
                      <a:endParaRPr lang="en-IN" dirty="0"/>
                    </a:p>
                  </a:txBody>
                  <a:tcPr/>
                </a:tc>
                <a:extLst>
                  <a:ext uri="{0D108BD9-81ED-4DB2-BD59-A6C34878D82A}">
                    <a16:rowId xmlns:a16="http://schemas.microsoft.com/office/drawing/2014/main" val="3773445941"/>
                  </a:ext>
                </a:extLst>
              </a:tr>
              <a:tr h="90606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Ref[2]</a:t>
                      </a:r>
                    </a:p>
                    <a:p>
                      <a:endParaRPr lang="en-IN" dirty="0"/>
                    </a:p>
                  </a:txBody>
                  <a:tcPr/>
                </a:tc>
                <a:tc>
                  <a:txBody>
                    <a:bodyPr/>
                    <a:lstStyle/>
                    <a:p>
                      <a:pPr>
                        <a:lnSpc>
                          <a:spcPct val="115000"/>
                        </a:lnSpc>
                        <a:spcAft>
                          <a:spcPts val="800"/>
                        </a:spcAft>
                        <a:buNone/>
                      </a:pPr>
                      <a:r>
                        <a:rPr lang="en-IN" sz="1400" kern="100" dirty="0">
                          <a:effectLst/>
                          <a:latin typeface="+mn-lt"/>
                          <a:ea typeface="Aptos" panose="020B0004020202020204" pitchFamily="34" charset="0"/>
                          <a:cs typeface="Times New Roman" panose="02020603050405020304" pitchFamily="18" charset="0"/>
                        </a:rPr>
                        <a:t> Code With Harry</a:t>
                      </a:r>
                    </a:p>
                  </a:txBody>
                  <a:tcPr marL="9525" marR="9525" marT="9525" marB="9525" anchor="ctr"/>
                </a:tc>
                <a:tc>
                  <a:txBody>
                    <a:bodyPr/>
                    <a:lstStyle/>
                    <a:p>
                      <a:r>
                        <a:rPr lang="en-IN" sz="1400" b="0" i="0" u="none" strike="noStrike" cap="none" dirty="0">
                          <a:solidFill>
                            <a:srgbClr val="000000"/>
                          </a:solidFill>
                          <a:effectLst/>
                          <a:latin typeface="Arial"/>
                          <a:ea typeface="Arial"/>
                          <a:cs typeface="Arial"/>
                          <a:sym typeface="Arial"/>
                        </a:rPr>
                        <a:t>Keyboard input handling, screen refresh</a:t>
                      </a:r>
                      <a:endParaRPr lang="en-IN" dirty="0"/>
                    </a:p>
                  </a:txBody>
                  <a:tcPr/>
                </a:tc>
                <a:tc>
                  <a:txBody>
                    <a:bodyPr/>
                    <a:lstStyle/>
                    <a:p>
                      <a:r>
                        <a:rPr lang="en-US" dirty="0"/>
                        <a:t>Helped in implementing smooth keyboard controls and screen updates.</a:t>
                      </a:r>
                      <a:endParaRPr lang="en-IN" dirty="0"/>
                    </a:p>
                  </a:txBody>
                  <a:tcPr/>
                </a:tc>
                <a:extLst>
                  <a:ext uri="{0D108BD9-81ED-4DB2-BD59-A6C34878D82A}">
                    <a16:rowId xmlns:a16="http://schemas.microsoft.com/office/drawing/2014/main" val="3721261746"/>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Ref[3]</a:t>
                      </a:r>
                    </a:p>
                    <a:p>
                      <a:endParaRPr lang="en-IN" dirty="0"/>
                    </a:p>
                  </a:txBody>
                  <a:tcPr/>
                </a:tc>
                <a:tc>
                  <a:txBody>
                    <a:bodyPr/>
                    <a:lstStyle/>
                    <a:p>
                      <a:r>
                        <a:rPr lang="en-IN" sz="1400" b="0" i="0" u="none" strike="noStrike" cap="none" dirty="0">
                          <a:solidFill>
                            <a:srgbClr val="000000"/>
                          </a:solidFill>
                          <a:effectLst/>
                          <a:latin typeface="+mn-lt"/>
                          <a:ea typeface="Arial"/>
                          <a:cs typeface="Arial"/>
                          <a:sym typeface="Arial"/>
                        </a:rPr>
                        <a:t>Stack Overflow</a:t>
                      </a:r>
                      <a:endParaRPr lang="en-IN" dirty="0">
                        <a:latin typeface="+mn-lt"/>
                      </a:endParaRPr>
                    </a:p>
                  </a:txBody>
                  <a:tcPr/>
                </a:tc>
                <a:tc>
                  <a:txBody>
                    <a:bodyPr/>
                    <a:lstStyle/>
                    <a:p>
                      <a:r>
                        <a:rPr lang="en-IN" sz="1400" b="0" i="0" u="none" strike="noStrike" cap="none" dirty="0">
                          <a:solidFill>
                            <a:srgbClr val="000000"/>
                          </a:solidFill>
                          <a:effectLst/>
                          <a:latin typeface="Arial"/>
                          <a:ea typeface="Arial"/>
                          <a:cs typeface="Arial"/>
                          <a:sym typeface="Arial"/>
                        </a:rPr>
                        <a:t>Non-blocking input using </a:t>
                      </a:r>
                      <a:r>
                        <a:rPr lang="en-IN" sz="1400" b="0" i="0" u="none" strike="noStrike" cap="none" dirty="0" err="1">
                          <a:solidFill>
                            <a:srgbClr val="000000"/>
                          </a:solidFill>
                          <a:effectLst/>
                          <a:latin typeface="Arial"/>
                          <a:ea typeface="Arial"/>
                          <a:cs typeface="Arial"/>
                          <a:sym typeface="Arial"/>
                        </a:rPr>
                        <a:t>kbhit</a:t>
                      </a:r>
                      <a:r>
                        <a:rPr lang="en-IN" sz="1400" b="0" i="0" u="none" strike="noStrike" cap="none" dirty="0">
                          <a:solidFill>
                            <a:srgbClr val="000000"/>
                          </a:solidFill>
                          <a:effectLst/>
                          <a:latin typeface="Arial"/>
                          <a:ea typeface="Arial"/>
                          <a:cs typeface="Arial"/>
                          <a:sym typeface="Arial"/>
                        </a:rPr>
                        <a:t>()</a:t>
                      </a:r>
                      <a:endParaRPr lang="en-IN" dirty="0"/>
                    </a:p>
                  </a:txBody>
                  <a:tcPr/>
                </a:tc>
                <a:tc>
                  <a:txBody>
                    <a:bodyPr/>
                    <a:lstStyle/>
                    <a:p>
                      <a:r>
                        <a:rPr lang="en-US" dirty="0"/>
                        <a:t>Enabled real-time input handling without stopping the game loop.</a:t>
                      </a:r>
                      <a:endParaRPr lang="en-IN" dirty="0"/>
                    </a:p>
                  </a:txBody>
                  <a:tcPr/>
                </a:tc>
                <a:extLst>
                  <a:ext uri="{0D108BD9-81ED-4DB2-BD59-A6C34878D82A}">
                    <a16:rowId xmlns:a16="http://schemas.microsoft.com/office/drawing/2014/main" val="2135928170"/>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Ref[4]</a:t>
                      </a:r>
                    </a:p>
                    <a:p>
                      <a:endParaRPr lang="en-IN" dirty="0"/>
                    </a:p>
                  </a:txBody>
                  <a:tcPr/>
                </a:tc>
                <a:tc>
                  <a:txBody>
                    <a:bodyPr/>
                    <a:lstStyle/>
                    <a:p>
                      <a:pPr>
                        <a:lnSpc>
                          <a:spcPct val="115000"/>
                        </a:lnSpc>
                        <a:spcAft>
                          <a:spcPts val="800"/>
                        </a:spcAft>
                        <a:buNone/>
                      </a:pPr>
                      <a:r>
                        <a:rPr lang="en-IN" sz="1400" kern="100" dirty="0">
                          <a:effectLst/>
                          <a:latin typeface="+mn-lt"/>
                          <a:ea typeface="Aptos" panose="020B0004020202020204" pitchFamily="34" charset="0"/>
                          <a:cs typeface="Times New Roman" panose="02020603050405020304" pitchFamily="18" charset="0"/>
                        </a:rPr>
                        <a:t>  Microsoft Docs</a:t>
                      </a:r>
                    </a:p>
                  </a:txBody>
                  <a:tcPr marL="9525" marR="9525" marT="9525" marB="9525" anchor="ctr"/>
                </a:tc>
                <a:tc>
                  <a:txBody>
                    <a:bodyPr/>
                    <a:lstStyle/>
                    <a:p>
                      <a:r>
                        <a:rPr lang="en-IN" sz="1400" b="0" i="0" u="none" strike="noStrike" cap="none" dirty="0" err="1">
                          <a:solidFill>
                            <a:srgbClr val="000000"/>
                          </a:solidFill>
                          <a:effectLst/>
                          <a:latin typeface="Arial"/>
                          <a:ea typeface="Arial"/>
                          <a:cs typeface="Arial"/>
                          <a:sym typeface="Arial"/>
                        </a:rPr>
                        <a:t>gotoxy</a:t>
                      </a:r>
                      <a:r>
                        <a:rPr lang="en-IN" sz="1400" b="0" i="0" u="none" strike="noStrike" cap="none" dirty="0">
                          <a:solidFill>
                            <a:srgbClr val="000000"/>
                          </a:solidFill>
                          <a:effectLst/>
                          <a:latin typeface="Arial"/>
                          <a:ea typeface="Arial"/>
                          <a:cs typeface="Arial"/>
                          <a:sym typeface="Arial"/>
                        </a:rPr>
                        <a:t>, cursor hiding, </a:t>
                      </a:r>
                      <a:r>
                        <a:rPr lang="en-IN" sz="1400" b="0" i="0" u="none" strike="noStrike" cap="none" dirty="0" err="1">
                          <a:solidFill>
                            <a:srgbClr val="000000"/>
                          </a:solidFill>
                          <a:effectLst/>
                          <a:latin typeface="Arial"/>
                          <a:ea typeface="Arial"/>
                          <a:cs typeface="Arial"/>
                          <a:sym typeface="Arial"/>
                        </a:rPr>
                        <a:t>color</a:t>
                      </a:r>
                      <a:r>
                        <a:rPr lang="en-IN" sz="1400" b="0" i="0" u="none" strike="noStrike" cap="none" dirty="0">
                          <a:solidFill>
                            <a:srgbClr val="000000"/>
                          </a:solidFill>
                          <a:effectLst/>
                          <a:latin typeface="Arial"/>
                          <a:ea typeface="Arial"/>
                          <a:cs typeface="Arial"/>
                          <a:sym typeface="Arial"/>
                        </a:rPr>
                        <a:t> setting</a:t>
                      </a:r>
                      <a:endParaRPr lang="en-IN" dirty="0"/>
                    </a:p>
                  </a:txBody>
                  <a:tcPr/>
                </a:tc>
                <a:tc>
                  <a:txBody>
                    <a:bodyPr/>
                    <a:lstStyle/>
                    <a:p>
                      <a:r>
                        <a:rPr lang="en-US" dirty="0"/>
                        <a:t>Used for improving visual output like cursor movement and colors.</a:t>
                      </a:r>
                      <a:endParaRPr lang="en-IN" dirty="0"/>
                    </a:p>
                  </a:txBody>
                  <a:tcPr/>
                </a:tc>
                <a:extLst>
                  <a:ext uri="{0D108BD9-81ED-4DB2-BD59-A6C34878D82A}">
                    <a16:rowId xmlns:a16="http://schemas.microsoft.com/office/drawing/2014/main" val="1367247662"/>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Ref[5]</a:t>
                      </a:r>
                    </a:p>
                    <a:p>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 Tutorials point</a:t>
                      </a:r>
                      <a:endParaRPr lang="en-IN" dirty="0"/>
                    </a:p>
                  </a:txBody>
                  <a:tcPr/>
                </a:tc>
                <a:tc>
                  <a:txBody>
                    <a:bodyPr/>
                    <a:lstStyle/>
                    <a:p>
                      <a:pPr>
                        <a:lnSpc>
                          <a:spcPct val="115000"/>
                        </a:lnSpc>
                        <a:spcAft>
                          <a:spcPts val="800"/>
                        </a:spcAft>
                        <a:buNone/>
                      </a:pPr>
                      <a:r>
                        <a:rPr lang="en-IN" sz="1400" kern="100" dirty="0" err="1">
                          <a:effectLst/>
                          <a:latin typeface="+mn-lt"/>
                          <a:ea typeface="Aptos" panose="020B0004020202020204" pitchFamily="34" charset="0"/>
                          <a:cs typeface="Times New Roman" panose="02020603050405020304" pitchFamily="18" charset="0"/>
                        </a:rPr>
                        <a:t>srand</a:t>
                      </a:r>
                      <a:r>
                        <a:rPr lang="en-IN" sz="1400" kern="100" dirty="0">
                          <a:effectLst/>
                          <a:latin typeface="+mn-lt"/>
                          <a:ea typeface="Aptos" panose="020B0004020202020204" pitchFamily="34" charset="0"/>
                          <a:cs typeface="Times New Roman" panose="02020603050405020304" pitchFamily="18" charset="0"/>
                        </a:rPr>
                        <a:t>(), rand() for randomness</a:t>
                      </a:r>
                    </a:p>
                  </a:txBody>
                  <a:tcPr marL="9525" marR="9525" marT="9525" marB="9525" anchor="ctr"/>
                </a:tc>
                <a:tc>
                  <a:txBody>
                    <a:bodyPr/>
                    <a:lstStyle/>
                    <a:p>
                      <a:r>
                        <a:rPr lang="en-US" dirty="0"/>
                        <a:t>Helped in generating random fire spread and game events.</a:t>
                      </a:r>
                      <a:endParaRPr lang="en-IN" dirty="0"/>
                    </a:p>
                  </a:txBody>
                  <a:tcPr/>
                </a:tc>
                <a:extLst>
                  <a:ext uri="{0D108BD9-81ED-4DB2-BD59-A6C34878D82A}">
                    <a16:rowId xmlns:a16="http://schemas.microsoft.com/office/drawing/2014/main" val="1346346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5C22C627-D662-C34B-4257-DEEBB22E7076}"/>
            </a:ext>
          </a:extLst>
        </p:cNvPr>
        <p:cNvGrpSpPr/>
        <p:nvPr/>
      </p:nvGrpSpPr>
      <p:grpSpPr>
        <a:xfrm>
          <a:off x="0" y="0"/>
          <a:ext cx="0" cy="0"/>
          <a:chOff x="0" y="0"/>
          <a:chExt cx="0" cy="0"/>
        </a:xfrm>
      </p:grpSpPr>
      <p:sp>
        <p:nvSpPr>
          <p:cNvPr id="99" name="Google Shape;99;p18">
            <a:extLst>
              <a:ext uri="{FF2B5EF4-FFF2-40B4-BE49-F238E27FC236}">
                <a16:creationId xmlns:a16="http://schemas.microsoft.com/office/drawing/2014/main" id="{4CFEDF3A-63B0-8772-2892-3F07D41ADC0D}"/>
              </a:ext>
            </a:extLst>
          </p:cNvPr>
          <p:cNvSpPr txBox="1">
            <a:spLocks noGrp="1"/>
          </p:cNvSpPr>
          <p:nvPr>
            <p:ph type="title"/>
          </p:nvPr>
        </p:nvSpPr>
        <p:spPr>
          <a:xfrm>
            <a:off x="445514" y="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800" dirty="0"/>
              <a:t>Summary of Literature Survey</a:t>
            </a:r>
            <a:endParaRPr sz="2800" dirty="0"/>
          </a:p>
        </p:txBody>
      </p:sp>
      <p:graphicFrame>
        <p:nvGraphicFramePr>
          <p:cNvPr id="3" name="Table 2">
            <a:extLst>
              <a:ext uri="{FF2B5EF4-FFF2-40B4-BE49-F238E27FC236}">
                <a16:creationId xmlns:a16="http://schemas.microsoft.com/office/drawing/2014/main" id="{ADD698FE-6EB2-DDCE-DDE1-9652CA33DD4F}"/>
              </a:ext>
            </a:extLst>
          </p:cNvPr>
          <p:cNvGraphicFramePr>
            <a:graphicFrameLocks noGrp="1"/>
          </p:cNvGraphicFramePr>
          <p:nvPr>
            <p:extLst>
              <p:ext uri="{D42A27DB-BD31-4B8C-83A1-F6EECF244321}">
                <p14:modId xmlns:p14="http://schemas.microsoft.com/office/powerpoint/2010/main" val="3392204538"/>
              </p:ext>
            </p:extLst>
          </p:nvPr>
        </p:nvGraphicFramePr>
        <p:xfrm>
          <a:off x="471800" y="534553"/>
          <a:ext cx="8464044" cy="4382510"/>
        </p:xfrm>
        <a:graphic>
          <a:graphicData uri="http://schemas.openxmlformats.org/drawingml/2006/table">
            <a:tbl>
              <a:tblPr firstRow="1" bandRow="1">
                <a:tableStyleId>{26AB36B5-FDD1-49DB-954E-CDDC2A254018}</a:tableStyleId>
              </a:tblPr>
              <a:tblGrid>
                <a:gridCol w="2117007">
                  <a:extLst>
                    <a:ext uri="{9D8B030D-6E8A-4147-A177-3AD203B41FA5}">
                      <a16:colId xmlns:a16="http://schemas.microsoft.com/office/drawing/2014/main" val="3674222116"/>
                    </a:ext>
                  </a:extLst>
                </a:gridCol>
                <a:gridCol w="2117007">
                  <a:extLst>
                    <a:ext uri="{9D8B030D-6E8A-4147-A177-3AD203B41FA5}">
                      <a16:colId xmlns:a16="http://schemas.microsoft.com/office/drawing/2014/main" val="2755479323"/>
                    </a:ext>
                  </a:extLst>
                </a:gridCol>
                <a:gridCol w="2117007">
                  <a:extLst>
                    <a:ext uri="{9D8B030D-6E8A-4147-A177-3AD203B41FA5}">
                      <a16:colId xmlns:a16="http://schemas.microsoft.com/office/drawing/2014/main" val="3282422356"/>
                    </a:ext>
                  </a:extLst>
                </a:gridCol>
                <a:gridCol w="2113023">
                  <a:extLst>
                    <a:ext uri="{9D8B030D-6E8A-4147-A177-3AD203B41FA5}">
                      <a16:colId xmlns:a16="http://schemas.microsoft.com/office/drawing/2014/main" val="4216577913"/>
                    </a:ext>
                  </a:extLst>
                </a:gridCol>
              </a:tblGrid>
              <a:tr h="643015">
                <a:tc>
                  <a:txBody>
                    <a:bodyPr/>
                    <a:lstStyle/>
                    <a:p>
                      <a:pPr marL="0" lvl="0" indent="0" algn="ctr" rtl="0">
                        <a:spcBef>
                          <a:spcPts val="0"/>
                        </a:spcBef>
                        <a:spcAft>
                          <a:spcPts val="0"/>
                        </a:spcAft>
                        <a:buNone/>
                      </a:pPr>
                      <a:r>
                        <a:rPr lang="en-US" sz="1200" dirty="0"/>
                        <a:t>Paper Ref.</a:t>
                      </a:r>
                    </a:p>
                    <a:p>
                      <a:pPr marL="0" lvl="0" indent="0" algn="ctr" rtl="0">
                        <a:spcBef>
                          <a:spcPts val="0"/>
                        </a:spcBef>
                        <a:spcAft>
                          <a:spcPts val="0"/>
                        </a:spcAft>
                        <a:buNone/>
                      </a:pPr>
                      <a:r>
                        <a:rPr lang="en-US" sz="1200" dirty="0"/>
                        <a:t>(as per order of references)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Title of Paper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Method Used</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How is it useful for your project</a:t>
                      </a:r>
                    </a:p>
                    <a:p>
                      <a:endParaRPr lang="en-IN" dirty="0"/>
                    </a:p>
                  </a:txBody>
                  <a:tcPr/>
                </a:tc>
                <a:extLst>
                  <a:ext uri="{0D108BD9-81ED-4DB2-BD59-A6C34878D82A}">
                    <a16:rowId xmlns:a16="http://schemas.microsoft.com/office/drawing/2014/main" val="128930327"/>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Ref[6]</a:t>
                      </a:r>
                    </a:p>
                    <a:p>
                      <a:endParaRPr lang="en-IN" dirty="0"/>
                    </a:p>
                  </a:txBody>
                  <a:tcPr/>
                </a:tc>
                <a:tc>
                  <a:txBody>
                    <a:bodyPr/>
                    <a:lstStyle/>
                    <a:p>
                      <a:r>
                        <a:rPr lang="en-IN" sz="1400" b="0" i="0" u="none" strike="noStrike" cap="none" dirty="0" err="1">
                          <a:solidFill>
                            <a:srgbClr val="000000"/>
                          </a:solidFill>
                          <a:effectLst/>
                          <a:latin typeface="Arial"/>
                          <a:ea typeface="Arial"/>
                          <a:cs typeface="Arial"/>
                          <a:sym typeface="Arial"/>
                        </a:rPr>
                        <a:t>JavaTpoint</a:t>
                      </a:r>
                      <a:endParaRPr lang="en-IN" dirty="0"/>
                    </a:p>
                  </a:txBody>
                  <a:tcPr/>
                </a:tc>
                <a:tc>
                  <a:txBody>
                    <a:bodyPr/>
                    <a:lstStyle/>
                    <a:p>
                      <a:r>
                        <a:rPr lang="en-IN" sz="1400" b="0" i="0" u="none" strike="noStrike" cap="none" dirty="0" err="1">
                          <a:solidFill>
                            <a:srgbClr val="000000"/>
                          </a:solidFill>
                          <a:effectLst/>
                          <a:latin typeface="Arial"/>
                          <a:ea typeface="Arial"/>
                          <a:cs typeface="Arial"/>
                          <a:sym typeface="Arial"/>
                        </a:rPr>
                        <a:t>fopen</a:t>
                      </a:r>
                      <a:r>
                        <a:rPr lang="en-IN" sz="1400" b="0" i="0" u="none" strike="noStrike" cap="none" dirty="0">
                          <a:solidFill>
                            <a:srgbClr val="000000"/>
                          </a:solidFill>
                          <a:effectLst/>
                          <a:latin typeface="Arial"/>
                          <a:ea typeface="Arial"/>
                          <a:cs typeface="Arial"/>
                          <a:sym typeface="Arial"/>
                        </a:rPr>
                        <a:t>, </a:t>
                      </a:r>
                      <a:r>
                        <a:rPr lang="en-IN" sz="1400" b="0" i="0" u="none" strike="noStrike" cap="none" dirty="0" err="1">
                          <a:solidFill>
                            <a:srgbClr val="000000"/>
                          </a:solidFill>
                          <a:effectLst/>
                          <a:latin typeface="Arial"/>
                          <a:ea typeface="Arial"/>
                          <a:cs typeface="Arial"/>
                          <a:sym typeface="Arial"/>
                        </a:rPr>
                        <a:t>fscanf</a:t>
                      </a:r>
                      <a:r>
                        <a:rPr lang="en-IN" sz="1400" b="0" i="0" u="none" strike="noStrike" cap="none" dirty="0">
                          <a:solidFill>
                            <a:srgbClr val="000000"/>
                          </a:solidFill>
                          <a:effectLst/>
                          <a:latin typeface="Arial"/>
                          <a:ea typeface="Arial"/>
                          <a:cs typeface="Arial"/>
                          <a:sym typeface="Arial"/>
                        </a:rPr>
                        <a:t>, </a:t>
                      </a:r>
                      <a:r>
                        <a:rPr lang="en-IN" sz="1400" b="0" i="0" u="none" strike="noStrike" cap="none" dirty="0" err="1">
                          <a:solidFill>
                            <a:srgbClr val="000000"/>
                          </a:solidFill>
                          <a:effectLst/>
                          <a:latin typeface="Arial"/>
                          <a:ea typeface="Arial"/>
                          <a:cs typeface="Arial"/>
                          <a:sym typeface="Arial"/>
                        </a:rPr>
                        <a:t>fprintf</a:t>
                      </a:r>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Data lost if file corrupted</a:t>
                      </a:r>
                      <a:endParaRPr lang="en-IN" dirty="0"/>
                    </a:p>
                  </a:txBody>
                  <a:tcPr/>
                </a:tc>
                <a:extLst>
                  <a:ext uri="{0D108BD9-81ED-4DB2-BD59-A6C34878D82A}">
                    <a16:rowId xmlns:a16="http://schemas.microsoft.com/office/drawing/2014/main" val="3773445941"/>
                  </a:ext>
                </a:extLst>
              </a:tr>
              <a:tr h="90606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Ref[7]</a:t>
                      </a:r>
                    </a:p>
                    <a:p>
                      <a:endParaRPr lang="en-IN" dirty="0"/>
                    </a:p>
                  </a:txBody>
                  <a:tcPr/>
                </a:tc>
                <a:tc>
                  <a:txBody>
                    <a:bodyPr/>
                    <a:lstStyle/>
                    <a:p>
                      <a:pPr>
                        <a:lnSpc>
                          <a:spcPct val="115000"/>
                        </a:lnSpc>
                        <a:spcAft>
                          <a:spcPts val="800"/>
                        </a:spcAft>
                        <a:buNone/>
                      </a:pPr>
                      <a:r>
                        <a:rPr lang="en-IN" sz="1400" kern="100" dirty="0">
                          <a:effectLst/>
                          <a:latin typeface="+mn-lt"/>
                          <a:ea typeface="Aptos" panose="020B0004020202020204" pitchFamily="34" charset="0"/>
                          <a:cs typeface="Times New Roman" panose="02020603050405020304" pitchFamily="18" charset="0"/>
                        </a:rPr>
                        <a:t> </a:t>
                      </a:r>
                      <a:r>
                        <a:rPr lang="en-IN" sz="1400" b="0" i="0" u="none" strike="noStrike" cap="none" dirty="0" err="1">
                          <a:solidFill>
                            <a:srgbClr val="000000"/>
                          </a:solidFill>
                          <a:effectLst/>
                          <a:latin typeface="Arial"/>
                          <a:ea typeface="Arial"/>
                          <a:cs typeface="Arial"/>
                          <a:sym typeface="Arial"/>
                        </a:rPr>
                        <a:t>Programiz</a:t>
                      </a:r>
                      <a:endParaRPr lang="en-IN"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r>
                        <a:rPr lang="en-IN" sz="1400" b="0" i="0" u="none" strike="noStrike" cap="none" dirty="0">
                          <a:solidFill>
                            <a:srgbClr val="000000"/>
                          </a:solidFill>
                          <a:effectLst/>
                          <a:latin typeface="Arial"/>
                          <a:ea typeface="Arial"/>
                          <a:cs typeface="Arial"/>
                          <a:sym typeface="Arial"/>
                        </a:rPr>
                        <a:t>2D char arrays for map design</a:t>
                      </a:r>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Fixed grid size</a:t>
                      </a:r>
                      <a:endParaRPr lang="en-IN" dirty="0"/>
                    </a:p>
                  </a:txBody>
                  <a:tcPr/>
                </a:tc>
                <a:extLst>
                  <a:ext uri="{0D108BD9-81ED-4DB2-BD59-A6C34878D82A}">
                    <a16:rowId xmlns:a16="http://schemas.microsoft.com/office/drawing/2014/main" val="3721261746"/>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Ref[8]</a:t>
                      </a:r>
                    </a:p>
                    <a:p>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ResearchGate</a:t>
                      </a:r>
                      <a:endParaRPr lang="en-IN" dirty="0">
                        <a:latin typeface="+mn-lt"/>
                      </a:endParaRPr>
                    </a:p>
                  </a:txBody>
                  <a:tcPr/>
                </a:tc>
                <a:tc>
                  <a:txBody>
                    <a:bodyPr/>
                    <a:lstStyle/>
                    <a:p>
                      <a:r>
                        <a:rPr lang="en-IN" sz="1400" b="0" i="0" u="none" strike="noStrike" cap="none" dirty="0">
                          <a:solidFill>
                            <a:srgbClr val="000000"/>
                          </a:solidFill>
                          <a:effectLst/>
                          <a:latin typeface="Arial"/>
                          <a:ea typeface="Arial"/>
                          <a:cs typeface="Arial"/>
                          <a:sym typeface="Arial"/>
                        </a:rPr>
                        <a:t>Probabilistic neighbour spreading</a:t>
                      </a:r>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Simplified model</a:t>
                      </a:r>
                      <a:endParaRPr lang="en-IN" dirty="0"/>
                    </a:p>
                  </a:txBody>
                  <a:tcPr/>
                </a:tc>
                <a:extLst>
                  <a:ext uri="{0D108BD9-81ED-4DB2-BD59-A6C34878D82A}">
                    <a16:rowId xmlns:a16="http://schemas.microsoft.com/office/drawing/2014/main" val="2135928170"/>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Ref[9]</a:t>
                      </a:r>
                    </a:p>
                    <a:p>
                      <a:endParaRPr lang="en-IN" dirty="0"/>
                    </a:p>
                  </a:txBody>
                  <a:tcPr/>
                </a:tc>
                <a:tc>
                  <a:txBody>
                    <a:bodyPr/>
                    <a:lstStyle/>
                    <a:p>
                      <a:pPr>
                        <a:lnSpc>
                          <a:spcPct val="115000"/>
                        </a:lnSpc>
                        <a:spcAft>
                          <a:spcPts val="800"/>
                        </a:spcAft>
                        <a:buNone/>
                      </a:pPr>
                      <a:r>
                        <a:rPr lang="en-IN" sz="1400" kern="100" dirty="0">
                          <a:effectLst/>
                          <a:latin typeface="+mn-lt"/>
                          <a:ea typeface="Aptos" panose="020B0004020202020204" pitchFamily="34" charset="0"/>
                          <a:cs typeface="Times New Roman" panose="02020603050405020304" pitchFamily="18" charset="0"/>
                        </a:rPr>
                        <a:t> </a:t>
                      </a:r>
                      <a:r>
                        <a:rPr lang="en-IN" sz="1400" b="0" i="0" u="none" strike="noStrike" cap="none" dirty="0" err="1">
                          <a:solidFill>
                            <a:srgbClr val="000000"/>
                          </a:solidFill>
                          <a:effectLst/>
                          <a:latin typeface="Arial"/>
                          <a:ea typeface="Arial"/>
                          <a:cs typeface="Arial"/>
                          <a:sym typeface="Arial"/>
                        </a:rPr>
                        <a:t>GameDev</a:t>
                      </a:r>
                      <a:r>
                        <a:rPr lang="en-IN" sz="1400" b="0" i="0" u="none" strike="noStrike" cap="none" dirty="0">
                          <a:solidFill>
                            <a:srgbClr val="000000"/>
                          </a:solidFill>
                          <a:effectLst/>
                          <a:latin typeface="Arial"/>
                          <a:ea typeface="Arial"/>
                          <a:cs typeface="Arial"/>
                          <a:sym typeface="Arial"/>
                        </a:rPr>
                        <a:t> Forums</a:t>
                      </a:r>
                      <a:r>
                        <a:rPr lang="en-IN" sz="1400" kern="100" dirty="0">
                          <a:effectLst/>
                          <a:latin typeface="+mn-lt"/>
                          <a:ea typeface="Aptos" panose="020B0004020202020204" pitchFamily="34" charset="0"/>
                          <a:cs typeface="Times New Roman" panose="02020603050405020304" pitchFamily="18" charset="0"/>
                        </a:rPr>
                        <a:t> </a:t>
                      </a:r>
                    </a:p>
                  </a:txBody>
                  <a:tcPr marL="9525" marR="9525" marT="9525" marB="9525" anchor="ctr"/>
                </a:tc>
                <a:tc>
                  <a:txBody>
                    <a:bodyPr/>
                    <a:lstStyle/>
                    <a:p>
                      <a:r>
                        <a:rPr lang="en-IN" sz="1400" b="0" i="0" u="none" strike="noStrike" cap="none" dirty="0">
                          <a:solidFill>
                            <a:srgbClr val="000000"/>
                          </a:solidFill>
                          <a:effectLst/>
                          <a:latin typeface="Arial"/>
                          <a:ea typeface="Arial"/>
                          <a:cs typeface="Arial"/>
                          <a:sym typeface="Arial"/>
                        </a:rPr>
                        <a:t>Counter-based life tracking</a:t>
                      </a:r>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No save state</a:t>
                      </a:r>
                      <a:endParaRPr lang="en-IN" dirty="0"/>
                    </a:p>
                  </a:txBody>
                  <a:tcPr/>
                </a:tc>
                <a:extLst>
                  <a:ext uri="{0D108BD9-81ED-4DB2-BD59-A6C34878D82A}">
                    <a16:rowId xmlns:a16="http://schemas.microsoft.com/office/drawing/2014/main" val="1367247662"/>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Ref[10]</a:t>
                      </a:r>
                    </a:p>
                    <a:p>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 Stack Overflow</a:t>
                      </a:r>
                      <a:endParaRPr lang="en-IN" dirty="0"/>
                    </a:p>
                  </a:txBody>
                  <a:tcPr/>
                </a:tc>
                <a:tc>
                  <a:txBody>
                    <a:bodyPr/>
                    <a:lstStyle/>
                    <a:p>
                      <a:pPr>
                        <a:lnSpc>
                          <a:spcPct val="115000"/>
                        </a:lnSpc>
                        <a:spcAft>
                          <a:spcPts val="800"/>
                        </a:spcAft>
                        <a:buNone/>
                      </a:pPr>
                      <a:r>
                        <a:rPr lang="en-IN" sz="1400" b="0" i="0" u="none" strike="noStrike" cap="none" dirty="0">
                          <a:solidFill>
                            <a:srgbClr val="000000"/>
                          </a:solidFill>
                          <a:effectLst/>
                          <a:latin typeface="Arial"/>
                          <a:ea typeface="Arial"/>
                          <a:cs typeface="Arial"/>
                          <a:sym typeface="Arial"/>
                        </a:rPr>
                        <a:t>Sorting arrays, file storage</a:t>
                      </a:r>
                      <a:endParaRPr lang="en-IN"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r>
                        <a:rPr lang="en-IN" sz="1400" b="0" i="0" u="none" strike="noStrike" cap="none" dirty="0">
                          <a:solidFill>
                            <a:srgbClr val="000000"/>
                          </a:solidFill>
                          <a:effectLst/>
                          <a:latin typeface="Arial"/>
                          <a:ea typeface="Arial"/>
                          <a:cs typeface="Arial"/>
                          <a:sym typeface="Arial"/>
                        </a:rPr>
                        <a:t>Limited to local storage</a:t>
                      </a:r>
                      <a:endParaRPr lang="en-IN" dirty="0"/>
                    </a:p>
                  </a:txBody>
                  <a:tcPr/>
                </a:tc>
                <a:extLst>
                  <a:ext uri="{0D108BD9-81ED-4DB2-BD59-A6C34878D82A}">
                    <a16:rowId xmlns:a16="http://schemas.microsoft.com/office/drawing/2014/main" val="13463468"/>
                  </a:ext>
                </a:extLst>
              </a:tr>
            </a:tbl>
          </a:graphicData>
        </a:graphic>
      </p:graphicFrame>
    </p:spTree>
    <p:extLst>
      <p:ext uri="{BB962C8B-B14F-4D97-AF65-F5344CB8AC3E}">
        <p14:creationId xmlns:p14="http://schemas.microsoft.com/office/powerpoint/2010/main" val="4154388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6F312DF6-0FEA-191B-4ED6-A45633C598FD}"/>
            </a:ext>
          </a:extLst>
        </p:cNvPr>
        <p:cNvGrpSpPr/>
        <p:nvPr/>
      </p:nvGrpSpPr>
      <p:grpSpPr>
        <a:xfrm>
          <a:off x="0" y="0"/>
          <a:ext cx="0" cy="0"/>
          <a:chOff x="0" y="0"/>
          <a:chExt cx="0" cy="0"/>
        </a:xfrm>
      </p:grpSpPr>
      <p:sp>
        <p:nvSpPr>
          <p:cNvPr id="99" name="Google Shape;99;p18">
            <a:extLst>
              <a:ext uri="{FF2B5EF4-FFF2-40B4-BE49-F238E27FC236}">
                <a16:creationId xmlns:a16="http://schemas.microsoft.com/office/drawing/2014/main" id="{810F9215-35E5-CCE0-C8C0-7636A264267B}"/>
              </a:ext>
            </a:extLst>
          </p:cNvPr>
          <p:cNvSpPr txBox="1">
            <a:spLocks noGrp="1"/>
          </p:cNvSpPr>
          <p:nvPr>
            <p:ph type="title"/>
          </p:nvPr>
        </p:nvSpPr>
        <p:spPr>
          <a:xfrm>
            <a:off x="445514" y="0"/>
            <a:ext cx="8520600" cy="70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800" dirty="0"/>
              <a:t>Summary of Literature Survey</a:t>
            </a:r>
            <a:endParaRPr sz="2800" dirty="0"/>
          </a:p>
        </p:txBody>
      </p:sp>
      <p:graphicFrame>
        <p:nvGraphicFramePr>
          <p:cNvPr id="3" name="Table 2">
            <a:extLst>
              <a:ext uri="{FF2B5EF4-FFF2-40B4-BE49-F238E27FC236}">
                <a16:creationId xmlns:a16="http://schemas.microsoft.com/office/drawing/2014/main" id="{DD0B4902-0BB5-C48E-34B2-3A67B3060028}"/>
              </a:ext>
            </a:extLst>
          </p:cNvPr>
          <p:cNvGraphicFramePr>
            <a:graphicFrameLocks noGrp="1"/>
          </p:cNvGraphicFramePr>
          <p:nvPr>
            <p:extLst>
              <p:ext uri="{D42A27DB-BD31-4B8C-83A1-F6EECF244321}">
                <p14:modId xmlns:p14="http://schemas.microsoft.com/office/powerpoint/2010/main" val="1728380008"/>
              </p:ext>
            </p:extLst>
          </p:nvPr>
        </p:nvGraphicFramePr>
        <p:xfrm>
          <a:off x="471800" y="534553"/>
          <a:ext cx="8464044" cy="4382510"/>
        </p:xfrm>
        <a:graphic>
          <a:graphicData uri="http://schemas.openxmlformats.org/drawingml/2006/table">
            <a:tbl>
              <a:tblPr firstRow="1" bandRow="1">
                <a:tableStyleId>{26AB36B5-FDD1-49DB-954E-CDDC2A254018}</a:tableStyleId>
              </a:tblPr>
              <a:tblGrid>
                <a:gridCol w="2117007">
                  <a:extLst>
                    <a:ext uri="{9D8B030D-6E8A-4147-A177-3AD203B41FA5}">
                      <a16:colId xmlns:a16="http://schemas.microsoft.com/office/drawing/2014/main" val="3674222116"/>
                    </a:ext>
                  </a:extLst>
                </a:gridCol>
                <a:gridCol w="2117007">
                  <a:extLst>
                    <a:ext uri="{9D8B030D-6E8A-4147-A177-3AD203B41FA5}">
                      <a16:colId xmlns:a16="http://schemas.microsoft.com/office/drawing/2014/main" val="2755479323"/>
                    </a:ext>
                  </a:extLst>
                </a:gridCol>
                <a:gridCol w="2111298">
                  <a:extLst>
                    <a:ext uri="{9D8B030D-6E8A-4147-A177-3AD203B41FA5}">
                      <a16:colId xmlns:a16="http://schemas.microsoft.com/office/drawing/2014/main" val="3282422356"/>
                    </a:ext>
                  </a:extLst>
                </a:gridCol>
                <a:gridCol w="2118732">
                  <a:extLst>
                    <a:ext uri="{9D8B030D-6E8A-4147-A177-3AD203B41FA5}">
                      <a16:colId xmlns:a16="http://schemas.microsoft.com/office/drawing/2014/main" val="4216577913"/>
                    </a:ext>
                  </a:extLst>
                </a:gridCol>
              </a:tblGrid>
              <a:tr h="643015">
                <a:tc>
                  <a:txBody>
                    <a:bodyPr/>
                    <a:lstStyle/>
                    <a:p>
                      <a:pPr marL="0" lvl="0" indent="0" algn="ctr" rtl="0">
                        <a:spcBef>
                          <a:spcPts val="0"/>
                        </a:spcBef>
                        <a:spcAft>
                          <a:spcPts val="0"/>
                        </a:spcAft>
                        <a:buNone/>
                      </a:pPr>
                      <a:r>
                        <a:rPr lang="en-US" sz="1200" dirty="0"/>
                        <a:t>Paper Ref.</a:t>
                      </a:r>
                    </a:p>
                    <a:p>
                      <a:pPr marL="0" lvl="0" indent="0" algn="ctr" rtl="0">
                        <a:spcBef>
                          <a:spcPts val="0"/>
                        </a:spcBef>
                        <a:spcAft>
                          <a:spcPts val="0"/>
                        </a:spcAft>
                        <a:buNone/>
                      </a:pPr>
                      <a:r>
                        <a:rPr lang="en-US" sz="1200" dirty="0"/>
                        <a:t>(as per order of references)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Title of Paper</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Method Used</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How is it useful for your project</a:t>
                      </a:r>
                    </a:p>
                    <a:p>
                      <a:endParaRPr lang="en-IN" dirty="0"/>
                    </a:p>
                  </a:txBody>
                  <a:tcPr/>
                </a:tc>
                <a:extLst>
                  <a:ext uri="{0D108BD9-81ED-4DB2-BD59-A6C34878D82A}">
                    <a16:rowId xmlns:a16="http://schemas.microsoft.com/office/drawing/2014/main" val="128930327"/>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Ref[11]</a:t>
                      </a:r>
                    </a:p>
                    <a:p>
                      <a:endParaRPr lang="en-IN" dirty="0"/>
                    </a:p>
                  </a:txBody>
                  <a:tcPr/>
                </a:tc>
                <a:tc>
                  <a:txBody>
                    <a:bodyPr/>
                    <a:lstStyle/>
                    <a:p>
                      <a:endParaRPr lang="en-IN" sz="1400" b="0" i="0" u="none" strike="noStrike" cap="none" dirty="0">
                        <a:solidFill>
                          <a:srgbClr val="000000"/>
                        </a:solidFill>
                        <a:effectLst/>
                        <a:latin typeface="Arial"/>
                        <a:ea typeface="Arial"/>
                        <a:cs typeface="Arial"/>
                        <a:sym typeface="Arial"/>
                      </a:endParaRPr>
                    </a:p>
                    <a:p>
                      <a:r>
                        <a:rPr lang="en-IN" sz="1400" b="0" i="0" u="none" strike="noStrike" cap="none" dirty="0">
                          <a:solidFill>
                            <a:srgbClr val="000000"/>
                          </a:solidFill>
                          <a:effectLst/>
                          <a:latin typeface="Arial"/>
                          <a:ea typeface="Arial"/>
                          <a:cs typeface="Arial"/>
                          <a:sym typeface="Arial"/>
                        </a:rPr>
                        <a:t>     </a:t>
                      </a:r>
                      <a:r>
                        <a:rPr lang="en-IN" sz="1400" b="0" i="0" u="none" strike="noStrike" cap="none" dirty="0" err="1">
                          <a:solidFill>
                            <a:srgbClr val="000000"/>
                          </a:solidFill>
                          <a:effectLst/>
                          <a:latin typeface="Arial"/>
                          <a:ea typeface="Arial"/>
                          <a:cs typeface="Arial"/>
                          <a:sym typeface="Arial"/>
                        </a:rPr>
                        <a:t>CodeProject</a:t>
                      </a:r>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Set Console </a:t>
                      </a:r>
                      <a:r>
                        <a:rPr lang="en-IN" sz="1400" b="0" i="0" u="none" strike="noStrike" cap="none" dirty="0" err="1">
                          <a:solidFill>
                            <a:srgbClr val="000000"/>
                          </a:solidFill>
                          <a:effectLst/>
                          <a:latin typeface="Arial"/>
                          <a:ea typeface="Arial"/>
                          <a:cs typeface="Arial"/>
                          <a:sym typeface="Arial"/>
                        </a:rPr>
                        <a:t>TextAttribute</a:t>
                      </a:r>
                      <a:r>
                        <a:rPr lang="en-IN" sz="1400" b="0" i="0" u="none" strike="noStrike" cap="none" dirty="0">
                          <a:solidFill>
                            <a:srgbClr val="000000"/>
                          </a:solidFill>
                          <a:effectLst/>
                          <a:latin typeface="Arial"/>
                          <a:ea typeface="Arial"/>
                          <a:cs typeface="Arial"/>
                          <a:sym typeface="Arial"/>
                        </a:rPr>
                        <a:t>()</a:t>
                      </a:r>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Visual clarity</a:t>
                      </a:r>
                      <a:endParaRPr lang="en-IN" dirty="0"/>
                    </a:p>
                  </a:txBody>
                  <a:tcPr/>
                </a:tc>
                <a:extLst>
                  <a:ext uri="{0D108BD9-81ED-4DB2-BD59-A6C34878D82A}">
                    <a16:rowId xmlns:a16="http://schemas.microsoft.com/office/drawing/2014/main" val="3773445941"/>
                  </a:ext>
                </a:extLst>
              </a:tr>
              <a:tr h="906066">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Ref[12]</a:t>
                      </a:r>
                    </a:p>
                    <a:p>
                      <a:endParaRPr lang="en-IN" dirty="0"/>
                    </a:p>
                  </a:txBody>
                  <a:tcPr/>
                </a:tc>
                <a:tc>
                  <a:txBody>
                    <a:bodyPr/>
                    <a:lstStyle/>
                    <a:p>
                      <a:pPr>
                        <a:lnSpc>
                          <a:spcPct val="115000"/>
                        </a:lnSpc>
                        <a:spcAft>
                          <a:spcPts val="800"/>
                        </a:spcAft>
                        <a:buNone/>
                      </a:pPr>
                      <a:r>
                        <a:rPr lang="en-IN" sz="1400" b="0" i="0" u="none" strike="noStrike" cap="none" dirty="0">
                          <a:solidFill>
                            <a:srgbClr val="000000"/>
                          </a:solidFill>
                          <a:effectLst/>
                          <a:latin typeface="Arial"/>
                          <a:ea typeface="Arial"/>
                          <a:cs typeface="Arial"/>
                          <a:sym typeface="Arial"/>
                        </a:rPr>
                        <a:t>        Microsoft Docs</a:t>
                      </a:r>
                      <a:r>
                        <a:rPr lang="en-IN" sz="1400" kern="100" dirty="0">
                          <a:effectLst/>
                          <a:latin typeface="+mn-lt"/>
                          <a:ea typeface="Aptos" panose="020B0004020202020204" pitchFamily="34" charset="0"/>
                          <a:cs typeface="Times New Roman" panose="02020603050405020304" pitchFamily="18" charset="0"/>
                        </a:rPr>
                        <a:t> </a:t>
                      </a:r>
                    </a:p>
                  </a:txBody>
                  <a:tcPr marL="9525" marR="9525" marT="9525" marB="9525" anchor="ctr"/>
                </a:tc>
                <a:tc>
                  <a:txBody>
                    <a:bodyPr/>
                    <a:lstStyle/>
                    <a:p>
                      <a:r>
                        <a:rPr lang="en-IN" sz="1400" b="0" i="0" u="none" strike="noStrike" cap="none" dirty="0">
                          <a:solidFill>
                            <a:srgbClr val="000000"/>
                          </a:solidFill>
                          <a:effectLst/>
                          <a:latin typeface="Arial"/>
                          <a:ea typeface="Arial"/>
                          <a:cs typeface="Arial"/>
                          <a:sym typeface="Arial"/>
                        </a:rPr>
                        <a:t>Beep(frequency,</a:t>
                      </a:r>
                    </a:p>
                    <a:p>
                      <a:r>
                        <a:rPr lang="en-IN" sz="1400" b="0" i="0" u="none" strike="noStrike" cap="none" dirty="0">
                          <a:solidFill>
                            <a:srgbClr val="000000"/>
                          </a:solidFill>
                          <a:effectLst/>
                          <a:latin typeface="Arial"/>
                          <a:ea typeface="Arial"/>
                          <a:cs typeface="Arial"/>
                          <a:sym typeface="Arial"/>
                        </a:rPr>
                        <a:t>duration)</a:t>
                      </a:r>
                      <a:endParaRPr lang="en-IN" dirty="0"/>
                    </a:p>
                  </a:txBody>
                  <a:tcPr/>
                </a:tc>
                <a:tc>
                  <a:txBody>
                    <a:bodyPr/>
                    <a:lstStyle/>
                    <a:p>
                      <a:r>
                        <a:rPr lang="en-US" dirty="0"/>
                        <a:t>Enhanced UI and overall performance</a:t>
                      </a:r>
                      <a:endParaRPr lang="en-IN" dirty="0"/>
                    </a:p>
                  </a:txBody>
                  <a:tcPr/>
                </a:tc>
                <a:extLst>
                  <a:ext uri="{0D108BD9-81ED-4DB2-BD59-A6C34878D82A}">
                    <a16:rowId xmlns:a16="http://schemas.microsoft.com/office/drawing/2014/main" val="3721261746"/>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Ref[13]</a:t>
                      </a:r>
                    </a:p>
                    <a:p>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         </a:t>
                      </a:r>
                    </a:p>
                    <a:p>
                      <a:r>
                        <a:rPr lang="en-IN" sz="1400" b="0" i="0" u="none" strike="noStrike" cap="none" dirty="0">
                          <a:solidFill>
                            <a:srgbClr val="000000"/>
                          </a:solidFill>
                          <a:effectLst/>
                          <a:latin typeface="Arial"/>
                          <a:ea typeface="Arial"/>
                          <a:cs typeface="Arial"/>
                          <a:sym typeface="Arial"/>
                        </a:rPr>
                        <a:t>         </a:t>
                      </a:r>
                      <a:r>
                        <a:rPr lang="en-IN" sz="1400" b="0" i="0" u="none" strike="noStrike" cap="none" dirty="0" err="1">
                          <a:solidFill>
                            <a:srgbClr val="000000"/>
                          </a:solidFill>
                          <a:effectLst/>
                          <a:latin typeface="Arial"/>
                          <a:ea typeface="Arial"/>
                          <a:cs typeface="Arial"/>
                          <a:sym typeface="Arial"/>
                        </a:rPr>
                        <a:t>Gamasutra</a:t>
                      </a:r>
                      <a:endParaRPr lang="en-IN" dirty="0">
                        <a:latin typeface="+mn-lt"/>
                      </a:endParaRPr>
                    </a:p>
                  </a:txBody>
                  <a:tcPr/>
                </a:tc>
                <a:tc>
                  <a:txBody>
                    <a:bodyPr/>
                    <a:lstStyle/>
                    <a:p>
                      <a:r>
                        <a:rPr lang="en-IN" sz="1400" b="0" i="0" u="none" strike="noStrike" cap="none" dirty="0">
                          <a:solidFill>
                            <a:srgbClr val="000000"/>
                          </a:solidFill>
                          <a:effectLst/>
                          <a:latin typeface="Arial"/>
                          <a:ea typeface="Arial"/>
                          <a:cs typeface="Arial"/>
                          <a:sym typeface="Arial"/>
                        </a:rPr>
                        <a:t>Adjusting speed and probability</a:t>
                      </a:r>
                      <a:endParaRPr lang="en-IN" dirty="0"/>
                    </a:p>
                  </a:txBody>
                  <a:tcPr/>
                </a:tc>
                <a:tc>
                  <a:txBody>
                    <a:bodyPr/>
                    <a:lstStyle/>
                    <a:p>
                      <a:r>
                        <a:rPr lang="en-US" dirty="0"/>
                        <a:t>Improved gameplay balance and challenge</a:t>
                      </a:r>
                      <a:endParaRPr lang="en-IN" dirty="0"/>
                    </a:p>
                  </a:txBody>
                  <a:tcPr/>
                </a:tc>
                <a:extLst>
                  <a:ext uri="{0D108BD9-81ED-4DB2-BD59-A6C34878D82A}">
                    <a16:rowId xmlns:a16="http://schemas.microsoft.com/office/drawing/2014/main" val="2135928170"/>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Ref[14]</a:t>
                      </a:r>
                    </a:p>
                    <a:p>
                      <a:endParaRPr lang="en-IN" dirty="0"/>
                    </a:p>
                  </a:txBody>
                  <a:tcPr/>
                </a:tc>
                <a:tc>
                  <a:txBody>
                    <a:bodyPr/>
                    <a:lstStyle/>
                    <a:p>
                      <a:pPr>
                        <a:lnSpc>
                          <a:spcPct val="115000"/>
                        </a:lnSpc>
                        <a:spcAft>
                          <a:spcPts val="800"/>
                        </a:spcAft>
                        <a:buNone/>
                      </a:pPr>
                      <a:r>
                        <a:rPr lang="en-IN" sz="1400" b="0" i="0" u="none" strike="noStrike" kern="100" cap="none" dirty="0">
                          <a:solidFill>
                            <a:srgbClr val="000000"/>
                          </a:solidFill>
                          <a:effectLst/>
                          <a:latin typeface="+mn-lt"/>
                          <a:ea typeface="Arial"/>
                          <a:cs typeface="Times New Roman" panose="02020603050405020304" pitchFamily="18" charset="0"/>
                          <a:sym typeface="Arial"/>
                        </a:rPr>
                        <a:t>          </a:t>
                      </a:r>
                      <a:r>
                        <a:rPr lang="en-IN" sz="1400" b="0" i="0" u="none" strike="noStrike" cap="none" dirty="0" err="1">
                          <a:solidFill>
                            <a:srgbClr val="000000"/>
                          </a:solidFill>
                          <a:effectLst/>
                          <a:latin typeface="Arial"/>
                          <a:ea typeface="Arial"/>
                          <a:cs typeface="Arial"/>
                          <a:sym typeface="Arial"/>
                        </a:rPr>
                        <a:t>Tutorialspoint</a:t>
                      </a:r>
                      <a:endParaRPr lang="en-IN"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pPr>
                        <a:lnSpc>
                          <a:spcPct val="115000"/>
                        </a:lnSpc>
                        <a:spcAft>
                          <a:spcPts val="800"/>
                        </a:spcAft>
                        <a:buNone/>
                      </a:pPr>
                      <a:r>
                        <a:rPr lang="en-IN" sz="1200" kern="100" dirty="0">
                          <a:effectLst/>
                          <a:latin typeface="+mn-lt"/>
                          <a:ea typeface="Aptos" panose="020B0004020202020204" pitchFamily="34" charset="0"/>
                          <a:cs typeface="Times New Roman" panose="02020603050405020304" pitchFamily="18" charset="0"/>
                        </a:rPr>
                        <a:t>Sleep(), loops for countdown</a:t>
                      </a:r>
                    </a:p>
                  </a:txBody>
                  <a:tcPr marL="9525" marR="9525" marT="9525" marB="9525" anchor="ctr"/>
                </a:tc>
                <a:tc>
                  <a:txBody>
                    <a:bodyPr/>
                    <a:lstStyle/>
                    <a:p>
                      <a:r>
                        <a:rPr lang="en-US" dirty="0"/>
                        <a:t>Improved gameplay balance and challenge</a:t>
                      </a:r>
                      <a:endParaRPr lang="en-IN" dirty="0"/>
                    </a:p>
                  </a:txBody>
                  <a:tcPr/>
                </a:tc>
                <a:extLst>
                  <a:ext uri="{0D108BD9-81ED-4DB2-BD59-A6C34878D82A}">
                    <a16:rowId xmlns:a16="http://schemas.microsoft.com/office/drawing/2014/main" val="1367247662"/>
                  </a:ext>
                </a:extLst>
              </a:tr>
              <a:tr h="70147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Ref[15]</a:t>
                      </a:r>
                    </a:p>
                    <a:p>
                      <a:endParaRPr lang="en-IN" dirty="0"/>
                    </a:p>
                  </a:txBody>
                  <a:tcPr/>
                </a:tc>
                <a:tc>
                  <a:txBody>
                    <a:bodyPr/>
                    <a:lstStyle/>
                    <a:p>
                      <a:r>
                        <a:rPr lang="en-IN" sz="1400" b="0" i="0" u="none" strike="noStrike" cap="none" dirty="0">
                          <a:solidFill>
                            <a:srgbClr val="000000"/>
                          </a:solidFill>
                          <a:effectLst/>
                          <a:latin typeface="Arial"/>
                          <a:ea typeface="Arial"/>
                          <a:cs typeface="Arial"/>
                          <a:sym typeface="Arial"/>
                        </a:rPr>
                        <a:t>       </a:t>
                      </a:r>
                    </a:p>
                    <a:p>
                      <a:r>
                        <a:rPr lang="en-IN" sz="1400" b="0" i="0" u="none" strike="noStrike" cap="none" dirty="0">
                          <a:solidFill>
                            <a:srgbClr val="000000"/>
                          </a:solidFill>
                          <a:effectLst/>
                          <a:latin typeface="Arial"/>
                          <a:ea typeface="Arial"/>
                          <a:cs typeface="Arial"/>
                          <a:sym typeface="Arial"/>
                        </a:rPr>
                        <a:t>        </a:t>
                      </a:r>
                      <a:r>
                        <a:rPr lang="en-IN" sz="1400" b="0" i="0" u="none" strike="noStrike" cap="none" dirty="0" err="1">
                          <a:solidFill>
                            <a:srgbClr val="000000"/>
                          </a:solidFill>
                          <a:effectLst/>
                          <a:latin typeface="Arial"/>
                          <a:ea typeface="Arial"/>
                          <a:cs typeface="Arial"/>
                          <a:sym typeface="Arial"/>
                        </a:rPr>
                        <a:t>GeeksforGeeks</a:t>
                      </a:r>
                      <a:endParaRPr lang="en-IN" dirty="0"/>
                    </a:p>
                  </a:txBody>
                  <a:tcPr/>
                </a:tc>
                <a:tc>
                  <a:txBody>
                    <a:bodyPr/>
                    <a:lstStyle/>
                    <a:p>
                      <a:pPr>
                        <a:lnSpc>
                          <a:spcPct val="115000"/>
                        </a:lnSpc>
                        <a:spcAft>
                          <a:spcPts val="800"/>
                        </a:spcAft>
                        <a:buNone/>
                      </a:pPr>
                      <a:r>
                        <a:rPr lang="en-IN" sz="1400" b="0" i="0" u="none" strike="noStrike" cap="none" dirty="0">
                          <a:solidFill>
                            <a:srgbClr val="000000"/>
                          </a:solidFill>
                          <a:effectLst/>
                          <a:latin typeface="Arial"/>
                          <a:ea typeface="Arial"/>
                          <a:cs typeface="Arial"/>
                          <a:sym typeface="Arial"/>
                        </a:rPr>
                        <a:t>DFS/BFS, manual movement</a:t>
                      </a:r>
                      <a:endParaRPr lang="en-IN" sz="1400" kern="100" dirty="0">
                        <a:effectLst/>
                        <a:latin typeface="+mn-lt"/>
                        <a:ea typeface="Aptos" panose="020B0004020202020204" pitchFamily="34" charset="0"/>
                        <a:cs typeface="Times New Roman" panose="02020603050405020304" pitchFamily="18" charset="0"/>
                      </a:endParaRPr>
                    </a:p>
                  </a:txBody>
                  <a:tcPr marL="9525" marR="9525" marT="9525" marB="9525" anchor="ctr"/>
                </a:tc>
                <a:tc>
                  <a:txBody>
                    <a:bodyPr/>
                    <a:lstStyle/>
                    <a:p>
                      <a:r>
                        <a:rPr lang="en-US" dirty="0"/>
                        <a:t>Used to store scores and game history</a:t>
                      </a:r>
                      <a:endParaRPr lang="en-IN" dirty="0"/>
                    </a:p>
                  </a:txBody>
                  <a:tcPr/>
                </a:tc>
                <a:extLst>
                  <a:ext uri="{0D108BD9-81ED-4DB2-BD59-A6C34878D82A}">
                    <a16:rowId xmlns:a16="http://schemas.microsoft.com/office/drawing/2014/main" val="13463468"/>
                  </a:ext>
                </a:extLst>
              </a:tr>
            </a:tbl>
          </a:graphicData>
        </a:graphic>
      </p:graphicFrame>
    </p:spTree>
    <p:extLst>
      <p:ext uri="{BB962C8B-B14F-4D97-AF65-F5344CB8AC3E}">
        <p14:creationId xmlns:p14="http://schemas.microsoft.com/office/powerpoint/2010/main" val="2830042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311700" y="103054"/>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Proposed System</a:t>
            </a:r>
            <a:endParaRPr dirty="0"/>
          </a:p>
        </p:txBody>
      </p:sp>
      <p:sp>
        <p:nvSpPr>
          <p:cNvPr id="106" name="Google Shape;106;p19"/>
          <p:cNvSpPr txBox="1">
            <a:spLocks noGrp="1"/>
          </p:cNvSpPr>
          <p:nvPr>
            <p:ph type="body" idx="1"/>
          </p:nvPr>
        </p:nvSpPr>
        <p:spPr>
          <a:xfrm>
            <a:off x="512422" y="706243"/>
            <a:ext cx="8319878" cy="4230029"/>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sz="2000" b="1" dirty="0">
                <a:latin typeface="MS UI Gothic" panose="020B0600070205080204" pitchFamily="34" charset="-128"/>
                <a:ea typeface="MS UI Gothic" panose="020B0600070205080204" pitchFamily="34" charset="-128"/>
              </a:rPr>
              <a:t>Detailed Description</a:t>
            </a:r>
          </a:p>
          <a:p>
            <a:pPr marL="0" lvl="0" indent="0" eaLnBrk="0" fontAlgn="base" hangingPunct="0">
              <a:lnSpc>
                <a:spcPct val="100000"/>
              </a:lnSpc>
              <a:spcBef>
                <a:spcPct val="0"/>
              </a:spcBef>
              <a:spcAft>
                <a:spcPct val="0"/>
              </a:spcAft>
              <a:buClrTx/>
              <a:buSzTx/>
              <a:buFontTx/>
              <a:buChar char="•"/>
            </a:pPr>
            <a:r>
              <a:rPr lang="en-US" altLang="en-US" sz="2400" dirty="0">
                <a:solidFill>
                  <a:srgbClr val="060507"/>
                </a:solidFill>
                <a:latin typeface="MS UI Gothic" panose="020B0600070205080204" pitchFamily="34" charset="-128"/>
                <a:ea typeface="MS UI Gothic" panose="020B0600070205080204" pitchFamily="34" charset="-128"/>
              </a:rPr>
              <a:t>The system is a console-based Fire Escape Game developed in C. </a:t>
            </a:r>
          </a:p>
          <a:p>
            <a:pPr marL="0" lvl="0" indent="0" eaLnBrk="0" fontAlgn="base" hangingPunct="0">
              <a:lnSpc>
                <a:spcPct val="100000"/>
              </a:lnSpc>
              <a:spcBef>
                <a:spcPct val="0"/>
              </a:spcBef>
              <a:spcAft>
                <a:spcPct val="0"/>
              </a:spcAft>
              <a:buClrTx/>
              <a:buSzTx/>
              <a:buFontTx/>
              <a:buChar char="•"/>
            </a:pPr>
            <a:r>
              <a:rPr lang="en-US" altLang="en-US" sz="2400" dirty="0">
                <a:solidFill>
                  <a:srgbClr val="060507"/>
                </a:solidFill>
                <a:latin typeface="MS UI Gothic" panose="020B0600070205080204" pitchFamily="34" charset="-128"/>
                <a:ea typeface="MS UI Gothic" panose="020B0600070205080204" pitchFamily="34" charset="-128"/>
              </a:rPr>
              <a:t>The player moves inside a grid to escape spreading fire. </a:t>
            </a:r>
          </a:p>
          <a:p>
            <a:pPr marL="0" lvl="0" indent="0" eaLnBrk="0" fontAlgn="base" hangingPunct="0">
              <a:lnSpc>
                <a:spcPct val="100000"/>
              </a:lnSpc>
              <a:spcBef>
                <a:spcPct val="0"/>
              </a:spcBef>
              <a:spcAft>
                <a:spcPct val="0"/>
              </a:spcAft>
              <a:buClrTx/>
              <a:buSzTx/>
              <a:buFontTx/>
              <a:buChar char="•"/>
            </a:pPr>
            <a:r>
              <a:rPr lang="en-US" altLang="en-US" sz="2400" dirty="0">
                <a:solidFill>
                  <a:srgbClr val="060507"/>
                </a:solidFill>
                <a:latin typeface="MS UI Gothic" panose="020B0600070205080204" pitchFamily="34" charset="-128"/>
                <a:ea typeface="MS UI Gothic" panose="020B0600070205080204" pitchFamily="34" charset="-128"/>
              </a:rPr>
              <a:t>Fire spreads randomly over time, increasing difficulty. </a:t>
            </a:r>
          </a:p>
          <a:p>
            <a:pPr marL="0" lvl="0" indent="0" eaLnBrk="0" fontAlgn="base" hangingPunct="0">
              <a:lnSpc>
                <a:spcPct val="100000"/>
              </a:lnSpc>
              <a:spcBef>
                <a:spcPct val="0"/>
              </a:spcBef>
              <a:spcAft>
                <a:spcPct val="0"/>
              </a:spcAft>
              <a:buClrTx/>
              <a:buSzTx/>
              <a:buFontTx/>
              <a:buChar char="•"/>
            </a:pPr>
            <a:r>
              <a:rPr lang="en-US" altLang="en-US" sz="2400" dirty="0">
                <a:solidFill>
                  <a:srgbClr val="060507"/>
                </a:solidFill>
                <a:latin typeface="MS UI Gothic" panose="020B0600070205080204" pitchFamily="34" charset="-128"/>
                <a:ea typeface="MS UI Gothic" panose="020B0600070205080204" pitchFamily="34" charset="-128"/>
              </a:rPr>
              <a:t>Real-time keyboard input is used for player movement. </a:t>
            </a:r>
          </a:p>
          <a:p>
            <a:pPr marL="0" lvl="0" indent="0" eaLnBrk="0" fontAlgn="base" hangingPunct="0">
              <a:lnSpc>
                <a:spcPct val="100000"/>
              </a:lnSpc>
              <a:spcBef>
                <a:spcPct val="0"/>
              </a:spcBef>
              <a:spcAft>
                <a:spcPct val="0"/>
              </a:spcAft>
              <a:buClrTx/>
              <a:buSzTx/>
              <a:buFontTx/>
              <a:buChar char="•"/>
            </a:pPr>
            <a:r>
              <a:rPr lang="en-US" altLang="en-US" sz="2400" dirty="0">
                <a:solidFill>
                  <a:srgbClr val="060507"/>
                </a:solidFill>
                <a:latin typeface="MS UI Gothic" panose="020B0600070205080204" pitchFamily="34" charset="-128"/>
                <a:ea typeface="MS UI Gothic" panose="020B0600070205080204" pitchFamily="34" charset="-128"/>
              </a:rPr>
              <a:t>Score is calculated based on survival time. </a:t>
            </a:r>
          </a:p>
          <a:p>
            <a:pPr marL="0" lvl="0" indent="0" eaLnBrk="0" fontAlgn="base" hangingPunct="0">
              <a:lnSpc>
                <a:spcPct val="100000"/>
              </a:lnSpc>
              <a:spcBef>
                <a:spcPct val="0"/>
              </a:spcBef>
              <a:spcAft>
                <a:spcPct val="0"/>
              </a:spcAft>
              <a:buClrTx/>
              <a:buSzTx/>
              <a:buFontTx/>
              <a:buChar char="•"/>
            </a:pPr>
            <a:r>
              <a:rPr lang="en-US" altLang="en-US" sz="2400" dirty="0">
                <a:solidFill>
                  <a:srgbClr val="060507"/>
                </a:solidFill>
                <a:latin typeface="MS UI Gothic" panose="020B0600070205080204" pitchFamily="34" charset="-128"/>
                <a:ea typeface="MS UI Gothic" panose="020B0600070205080204" pitchFamily="34" charset="-128"/>
              </a:rPr>
              <a:t>Game includes features like restart, leaderboard, and history. </a:t>
            </a:r>
          </a:p>
          <a:p>
            <a:pPr marL="0" lvl="0" indent="0" algn="ctr" rtl="0">
              <a:spcBef>
                <a:spcPts val="0"/>
              </a:spcBef>
              <a:spcAft>
                <a:spcPts val="1200"/>
              </a:spcAft>
              <a:buNone/>
            </a:pPr>
            <a:endParaRPr lang="en" dirty="0"/>
          </a:p>
          <a:p>
            <a:pPr marL="0" lvl="0" indent="0" algn="ctr" rtl="0">
              <a:spcBef>
                <a:spcPts val="0"/>
              </a:spcBef>
              <a:spcAft>
                <a:spcPts val="120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7450CB6-8A37-F6A9-964C-9FC04C087A26}"/>
            </a:ext>
          </a:extLst>
        </p:cNvPr>
        <p:cNvGrpSpPr/>
        <p:nvPr/>
      </p:nvGrpSpPr>
      <p:grpSpPr>
        <a:xfrm>
          <a:off x="0" y="0"/>
          <a:ext cx="0" cy="0"/>
          <a:chOff x="0" y="0"/>
          <a:chExt cx="0" cy="0"/>
        </a:xfrm>
      </p:grpSpPr>
      <p:sp>
        <p:nvSpPr>
          <p:cNvPr id="107" name="Google Shape;107;p19">
            <a:extLst>
              <a:ext uri="{FF2B5EF4-FFF2-40B4-BE49-F238E27FC236}">
                <a16:creationId xmlns:a16="http://schemas.microsoft.com/office/drawing/2014/main" id="{1E97AB78-EBC6-F890-6BA2-AEBE2A38A2FA}"/>
              </a:ext>
            </a:extLst>
          </p:cNvPr>
          <p:cNvSpPr txBox="1">
            <a:spLocks noGrp="1"/>
          </p:cNvSpPr>
          <p:nvPr>
            <p:ph type="body" idx="4294967295"/>
          </p:nvPr>
        </p:nvSpPr>
        <p:spPr>
          <a:xfrm>
            <a:off x="0" y="0"/>
            <a:ext cx="4260850" cy="3302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 b="1" dirty="0"/>
              <a:t>Flowchart/ System Design</a:t>
            </a:r>
          </a:p>
          <a:p>
            <a:pPr marL="0" lvl="0" indent="0" algn="ctr" rtl="0">
              <a:spcBef>
                <a:spcPts val="0"/>
              </a:spcBef>
              <a:spcAft>
                <a:spcPts val="1200"/>
              </a:spcAft>
              <a:buNone/>
            </a:pPr>
            <a:endParaRPr dirty="0"/>
          </a:p>
        </p:txBody>
      </p:sp>
      <p:pic>
        <p:nvPicPr>
          <p:cNvPr id="3" name="Graphic 2">
            <a:extLst>
              <a:ext uri="{FF2B5EF4-FFF2-40B4-BE49-F238E27FC236}">
                <a16:creationId xmlns:a16="http://schemas.microsoft.com/office/drawing/2014/main" id="{A1691D76-815D-F627-5FA3-1C2A161E3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2751" y="0"/>
            <a:ext cx="6891454" cy="5143500"/>
          </a:xfrm>
          <a:prstGeom prst="rect">
            <a:avLst/>
          </a:prstGeom>
        </p:spPr>
      </p:pic>
    </p:spTree>
    <p:extLst>
      <p:ext uri="{BB962C8B-B14F-4D97-AF65-F5344CB8AC3E}">
        <p14:creationId xmlns:p14="http://schemas.microsoft.com/office/powerpoint/2010/main" val="3608503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Hardware and Software Requirements</a:t>
            </a:r>
            <a:endParaRPr/>
          </a:p>
        </p:txBody>
      </p:sp>
      <p:graphicFrame>
        <p:nvGraphicFramePr>
          <p:cNvPr id="113" name="Google Shape;113;p20"/>
          <p:cNvGraphicFramePr/>
          <p:nvPr>
            <p:extLst>
              <p:ext uri="{D42A27DB-BD31-4B8C-83A1-F6EECF244321}">
                <p14:modId xmlns:p14="http://schemas.microsoft.com/office/powerpoint/2010/main" val="417348339"/>
              </p:ext>
            </p:extLst>
          </p:nvPr>
        </p:nvGraphicFramePr>
        <p:xfrm>
          <a:off x="752827" y="1015327"/>
          <a:ext cx="7239000" cy="3840270"/>
        </p:xfrm>
        <a:graphic>
          <a:graphicData uri="http://schemas.openxmlformats.org/drawingml/2006/table">
            <a:tbl>
              <a:tblPr>
                <a:noFill/>
                <a:tableStyleId>{26AB36B5-FDD1-49DB-954E-CDDC2A254018}</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b="1"/>
                        <a:t>Hardware</a:t>
                      </a:r>
                      <a:endParaRPr b="1"/>
                    </a:p>
                  </a:txBody>
                  <a:tcPr marL="91425" marR="91425" marT="91425" marB="91425"/>
                </a:tc>
                <a:tc>
                  <a:txBody>
                    <a:bodyPr/>
                    <a:lstStyle/>
                    <a:p>
                      <a:pPr marL="0" lvl="0" indent="0" algn="ctr" rtl="0">
                        <a:spcBef>
                          <a:spcPts val="0"/>
                        </a:spcBef>
                        <a:spcAft>
                          <a:spcPts val="0"/>
                        </a:spcAft>
                        <a:buNone/>
                      </a:pPr>
                      <a:r>
                        <a:rPr lang="en" b="1" dirty="0"/>
                        <a:t>Model</a:t>
                      </a:r>
                      <a:endParaRPr b="1" dirty="0"/>
                    </a:p>
                  </a:txBody>
                  <a:tcPr marL="91425" marR="91425" marT="91425" marB="91425"/>
                </a:tc>
                <a:tc>
                  <a:txBody>
                    <a:bodyPr/>
                    <a:lstStyle/>
                    <a:p>
                      <a:pPr marL="0" lvl="0" indent="0" algn="ctr" rtl="0">
                        <a:spcBef>
                          <a:spcPts val="0"/>
                        </a:spcBef>
                        <a:spcAft>
                          <a:spcPts val="0"/>
                        </a:spcAft>
                        <a:buNone/>
                      </a:pPr>
                      <a:r>
                        <a:rPr lang="en" b="1"/>
                        <a:t>Justification w.r.t project</a:t>
                      </a:r>
                      <a:endParaRPr b="1"/>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dirty="0"/>
                        <a:t>computer</a:t>
                      </a:r>
                      <a:endParaRPr dirty="0"/>
                    </a:p>
                  </a:txBody>
                  <a:tcPr marL="91425" marR="91425" marT="91425" marB="91425"/>
                </a:tc>
                <a:tc>
                  <a:txBody>
                    <a:bodyPr/>
                    <a:lstStyle/>
                    <a:p>
                      <a:pPr marL="0" lvl="0" indent="0" algn="l" rtl="0">
                        <a:spcBef>
                          <a:spcPts val="0"/>
                        </a:spcBef>
                        <a:spcAft>
                          <a:spcPts val="0"/>
                        </a:spcAft>
                        <a:buNone/>
                      </a:pPr>
                      <a:r>
                        <a:rPr lang="en-IN" dirty="0"/>
                        <a:t>Intel i3 or above</a:t>
                      </a:r>
                      <a:endParaRPr dirty="0"/>
                    </a:p>
                  </a:txBody>
                  <a:tcPr marL="91425" marR="91425" marT="91425" marB="91425"/>
                </a:tc>
                <a:tc>
                  <a:txBody>
                    <a:bodyPr/>
                    <a:lstStyle/>
                    <a:p>
                      <a:pPr marL="0" lvl="0" indent="0" algn="l" rtl="0">
                        <a:spcBef>
                          <a:spcPts val="0"/>
                        </a:spcBef>
                        <a:spcAft>
                          <a:spcPts val="0"/>
                        </a:spcAft>
                        <a:buNone/>
                      </a:pPr>
                      <a:r>
                        <a:rPr lang="en-US" dirty="0"/>
                        <a:t>Required to run and compile the C program smoothly</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IN" dirty="0"/>
                        <a:t>RAM</a:t>
                      </a:r>
                      <a:endParaRPr dirty="0"/>
                    </a:p>
                  </a:txBody>
                  <a:tcPr marL="91425" marR="91425" marT="91425" marB="91425"/>
                </a:tc>
                <a:tc>
                  <a:txBody>
                    <a:bodyPr/>
                    <a:lstStyle/>
                    <a:p>
                      <a:pPr marL="0" lvl="0" indent="0" algn="l" rtl="0">
                        <a:spcBef>
                          <a:spcPts val="0"/>
                        </a:spcBef>
                        <a:spcAft>
                          <a:spcPts val="0"/>
                        </a:spcAft>
                        <a:buNone/>
                      </a:pPr>
                      <a:r>
                        <a:rPr lang="en-IN" dirty="0"/>
                        <a:t>Minimum 4 GB</a:t>
                      </a:r>
                      <a:endParaRPr dirty="0"/>
                    </a:p>
                  </a:txBody>
                  <a:tcPr marL="91425" marR="91425" marT="91425" marB="91425"/>
                </a:tc>
                <a:tc>
                  <a:txBody>
                    <a:bodyPr/>
                    <a:lstStyle/>
                    <a:p>
                      <a:pPr marL="0" lvl="0" indent="0" algn="l" rtl="0">
                        <a:spcBef>
                          <a:spcPts val="0"/>
                        </a:spcBef>
                        <a:spcAft>
                          <a:spcPts val="0"/>
                        </a:spcAft>
                        <a:buNone/>
                      </a:pPr>
                      <a:r>
                        <a:rPr lang="en-US" dirty="0"/>
                        <a:t>Ensures smooth execution without lag</a:t>
                      </a:r>
                      <a:endParaRPr dirty="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IN" dirty="0"/>
                        <a:t>Keyboard</a:t>
                      </a:r>
                      <a:endParaRPr dirty="0"/>
                    </a:p>
                  </a:txBody>
                  <a:tcPr marL="91425" marR="91425" marT="91425" marB="91425"/>
                </a:tc>
                <a:tc>
                  <a:txBody>
                    <a:bodyPr/>
                    <a:lstStyle/>
                    <a:p>
                      <a:pPr>
                        <a:buNone/>
                      </a:pPr>
                      <a:r>
                        <a:rPr lang="en-IN" dirty="0"/>
                        <a:t>Standard Keyboard</a:t>
                      </a:r>
                    </a:p>
                  </a:txBody>
                  <a:tcPr anchor="ctr"/>
                </a:tc>
                <a:tc>
                  <a:txBody>
                    <a:bodyPr/>
                    <a:lstStyle/>
                    <a:p>
                      <a:pPr marL="0" lvl="0" indent="0" algn="l" rtl="0">
                        <a:spcBef>
                          <a:spcPts val="0"/>
                        </a:spcBef>
                        <a:spcAft>
                          <a:spcPts val="0"/>
                        </a:spcAft>
                        <a:buNone/>
                      </a:pPr>
                      <a:r>
                        <a:rPr lang="en-US" dirty="0"/>
                        <a:t>Used for real-time player movement (W, A, S, D keys)</a:t>
                      </a:r>
                      <a:endParaRPr dirty="0"/>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b="1"/>
                        <a:t>Software</a:t>
                      </a:r>
                      <a:endParaRPr b="1"/>
                    </a:p>
                  </a:txBody>
                  <a:tcPr marL="91425" marR="91425" marT="91425" marB="91425"/>
                </a:tc>
                <a:tc gridSpan="2">
                  <a:txBody>
                    <a:bodyPr/>
                    <a:lstStyle/>
                    <a:p>
                      <a:pPr marL="0" lvl="0" indent="0" algn="ctr" rtl="0">
                        <a:spcBef>
                          <a:spcPts val="0"/>
                        </a:spcBef>
                        <a:spcAft>
                          <a:spcPts val="0"/>
                        </a:spcAft>
                        <a:buNone/>
                      </a:pPr>
                      <a:r>
                        <a:rPr lang="en" b="1"/>
                        <a:t>Justification w.r.t project</a:t>
                      </a:r>
                      <a:endParaRPr/>
                    </a:p>
                  </a:txBody>
                  <a:tcPr marL="91425" marR="91425" marT="91425" marB="91425"/>
                </a:tc>
                <a:tc hMerge="1">
                  <a:txBody>
                    <a:bodyPr/>
                    <a:lstStyle/>
                    <a:p>
                      <a:endParaRPr lang="en-US"/>
                    </a:p>
                  </a:txBody>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IN" dirty="0"/>
                        <a:t>C Compiler (</a:t>
                      </a:r>
                      <a:r>
                        <a:rPr lang="en-IN" dirty="0" err="1"/>
                        <a:t>CodeBlocks</a:t>
                      </a:r>
                      <a:r>
                        <a:rPr lang="en-IN" dirty="0"/>
                        <a:t> / Dev C++ / GCC)</a:t>
                      </a:r>
                      <a:endParaRPr dirty="0"/>
                    </a:p>
                  </a:txBody>
                  <a:tcPr marL="91425" marR="91425" marT="91425" marB="91425"/>
                </a:tc>
                <a:tc gridSpan="2">
                  <a:txBody>
                    <a:bodyPr/>
                    <a:lstStyle/>
                    <a:p>
                      <a:pPr marL="0" lvl="0" indent="0" algn="ctr" rtl="0">
                        <a:spcBef>
                          <a:spcPts val="0"/>
                        </a:spcBef>
                        <a:spcAft>
                          <a:spcPts val="0"/>
                        </a:spcAft>
                        <a:buNone/>
                      </a:pPr>
                      <a:r>
                        <a:rPr lang="en-US" dirty="0"/>
                        <a:t>Used to compile and execute the game program</a:t>
                      </a:r>
                      <a:endParaRPr b="1" dirty="0"/>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IN" dirty="0"/>
                        <a:t>Windows OS</a:t>
                      </a:r>
                      <a:endParaRPr dirty="0"/>
                    </a:p>
                  </a:txBody>
                  <a:tcPr marL="91425" marR="91425" marT="91425" marB="91425"/>
                </a:tc>
                <a:tc gridSpan="2">
                  <a:txBody>
                    <a:bodyPr/>
                    <a:lstStyle/>
                    <a:p>
                      <a:pPr marL="0" lvl="0" indent="0" algn="ctr" rtl="0">
                        <a:spcBef>
                          <a:spcPts val="0"/>
                        </a:spcBef>
                        <a:spcAft>
                          <a:spcPts val="0"/>
                        </a:spcAft>
                        <a:buNone/>
                      </a:pPr>
                      <a:r>
                        <a:rPr lang="en-US" dirty="0"/>
                        <a:t>Required for </a:t>
                      </a:r>
                      <a:r>
                        <a:rPr lang="en-US" sz="1400" b="0" i="0" u="none" strike="noStrike" cap="none" dirty="0" err="1">
                          <a:solidFill>
                            <a:srgbClr val="000000"/>
                          </a:solidFill>
                          <a:latin typeface="Arial"/>
                          <a:ea typeface="Arial"/>
                          <a:cs typeface="Arial"/>
                          <a:sym typeface="Arial"/>
                        </a:rPr>
                        <a:t>windows.h</a:t>
                      </a:r>
                      <a:r>
                        <a:rPr lang="en-US" dirty="0"/>
                        <a:t> and </a:t>
                      </a:r>
                      <a:r>
                        <a:rPr lang="en-US" sz="1400" b="0" i="0" u="none" strike="noStrike" cap="none" dirty="0" err="1">
                          <a:solidFill>
                            <a:srgbClr val="000000"/>
                          </a:solidFill>
                          <a:latin typeface="Arial"/>
                          <a:ea typeface="Arial"/>
                          <a:cs typeface="Arial"/>
                          <a:sym typeface="Arial"/>
                        </a:rPr>
                        <a:t>conio.h</a:t>
                      </a:r>
                      <a:r>
                        <a:rPr lang="en-US" dirty="0"/>
                        <a:t> functions</a:t>
                      </a:r>
                      <a:endParaRPr b="1" dirty="0"/>
                    </a:p>
                  </a:txBody>
                  <a:tcPr marL="91425" marR="91425" marT="91425" marB="91425"/>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Implementation and Experimental Setup</a:t>
            </a:r>
            <a:endParaRPr dirty="0"/>
          </a:p>
        </p:txBody>
      </p:sp>
      <p:sp>
        <p:nvSpPr>
          <p:cNvPr id="119" name="Google Shape;119;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10000"/>
          </a:bodyPr>
          <a:lstStyle/>
          <a:p>
            <a:r>
              <a:rPr lang="en-US" dirty="0">
                <a:solidFill>
                  <a:srgbClr val="060507"/>
                </a:solidFill>
                <a:latin typeface="MS UI Gothic" panose="020B0600070205080204" pitchFamily="34" charset="-128"/>
                <a:ea typeface="MS UI Gothic" panose="020B0600070205080204" pitchFamily="34" charset="-128"/>
              </a:rPr>
              <a:t>The Fire Escape Game is implemented in </a:t>
            </a:r>
            <a:r>
              <a:rPr lang="en-US" b="1" dirty="0">
                <a:solidFill>
                  <a:srgbClr val="060507"/>
                </a:solidFill>
                <a:latin typeface="MS UI Gothic" panose="020B0600070205080204" pitchFamily="34" charset="-128"/>
                <a:ea typeface="MS UI Gothic" panose="020B0600070205080204" pitchFamily="34" charset="-128"/>
              </a:rPr>
              <a:t>C language</a:t>
            </a:r>
            <a:r>
              <a:rPr lang="en-US" dirty="0">
                <a:solidFill>
                  <a:srgbClr val="060507"/>
                </a:solidFill>
                <a:latin typeface="MS UI Gothic" panose="020B0600070205080204" pitchFamily="34" charset="-128"/>
                <a:ea typeface="MS UI Gothic" panose="020B0600070205080204" pitchFamily="34" charset="-128"/>
              </a:rPr>
              <a:t> using a </a:t>
            </a:r>
            <a:r>
              <a:rPr lang="en-US" b="1" dirty="0">
                <a:solidFill>
                  <a:srgbClr val="060507"/>
                </a:solidFill>
                <a:latin typeface="MS UI Gothic" panose="020B0600070205080204" pitchFamily="34" charset="-128"/>
                <a:ea typeface="MS UI Gothic" panose="020B0600070205080204" pitchFamily="34" charset="-128"/>
              </a:rPr>
              <a:t>25×25 2D grid</a:t>
            </a:r>
            <a:r>
              <a:rPr lang="en-US" dirty="0">
                <a:solidFill>
                  <a:srgbClr val="060507"/>
                </a:solidFill>
                <a:latin typeface="MS UI Gothic" panose="020B0600070205080204" pitchFamily="34" charset="-128"/>
                <a:ea typeface="MS UI Gothic" panose="020B0600070205080204" pitchFamily="34" charset="-128"/>
              </a:rPr>
              <a:t> to represent the game environment. The player (@) starts from the top-left corner and must reach the exit (X) while avoiding fire (*) and walls (#).</a:t>
            </a:r>
          </a:p>
          <a:p>
            <a:r>
              <a:rPr lang="en-US" dirty="0">
                <a:solidFill>
                  <a:srgbClr val="060507"/>
                </a:solidFill>
                <a:latin typeface="MS UI Gothic" panose="020B0600070205080204" pitchFamily="34" charset="-128"/>
                <a:ea typeface="MS UI Gothic" panose="020B0600070205080204" pitchFamily="34" charset="-128"/>
              </a:rPr>
              <a:t>Player movement is controlled using </a:t>
            </a:r>
            <a:r>
              <a:rPr lang="en-US" b="1" dirty="0">
                <a:solidFill>
                  <a:srgbClr val="060507"/>
                </a:solidFill>
                <a:latin typeface="MS UI Gothic" panose="020B0600070205080204" pitchFamily="34" charset="-128"/>
                <a:ea typeface="MS UI Gothic" panose="020B0600070205080204" pitchFamily="34" charset="-128"/>
              </a:rPr>
              <a:t>W, A, S, D keys</a:t>
            </a:r>
            <a:r>
              <a:rPr lang="en-US" dirty="0">
                <a:solidFill>
                  <a:srgbClr val="060507"/>
                </a:solidFill>
                <a:latin typeface="MS UI Gothic" panose="020B0600070205080204" pitchFamily="34" charset="-128"/>
                <a:ea typeface="MS UI Gothic" panose="020B0600070205080204" pitchFamily="34" charset="-128"/>
              </a:rPr>
              <a:t> with real-time input using </a:t>
            </a:r>
            <a:r>
              <a:rPr lang="en-US" dirty="0" err="1">
                <a:solidFill>
                  <a:srgbClr val="060507"/>
                </a:solidFill>
                <a:latin typeface="MS UI Gothic" panose="020B0600070205080204" pitchFamily="34" charset="-128"/>
                <a:ea typeface="MS UI Gothic" panose="020B0600070205080204" pitchFamily="34" charset="-128"/>
              </a:rPr>
              <a:t>kbhit</a:t>
            </a:r>
            <a:r>
              <a:rPr lang="en-US" dirty="0">
                <a:solidFill>
                  <a:srgbClr val="060507"/>
                </a:solidFill>
                <a:latin typeface="MS UI Gothic" panose="020B0600070205080204" pitchFamily="34" charset="-128"/>
                <a:ea typeface="MS UI Gothic" panose="020B0600070205080204" pitchFamily="34" charset="-128"/>
              </a:rPr>
              <a:t>() and </a:t>
            </a:r>
            <a:r>
              <a:rPr lang="en-US" dirty="0" err="1">
                <a:solidFill>
                  <a:srgbClr val="060507"/>
                </a:solidFill>
                <a:latin typeface="MS UI Gothic" panose="020B0600070205080204" pitchFamily="34" charset="-128"/>
                <a:ea typeface="MS UI Gothic" panose="020B0600070205080204" pitchFamily="34" charset="-128"/>
              </a:rPr>
              <a:t>getch</a:t>
            </a:r>
            <a:r>
              <a:rPr lang="en-US" dirty="0">
                <a:solidFill>
                  <a:srgbClr val="060507"/>
                </a:solidFill>
                <a:latin typeface="MS UI Gothic" panose="020B0600070205080204" pitchFamily="34" charset="-128"/>
                <a:ea typeface="MS UI Gothic" panose="020B0600070205080204" pitchFamily="34" charset="-128"/>
              </a:rPr>
              <a:t>(). The fire is randomly generated and spreads to adjacent cells based on a probability (</a:t>
            </a:r>
            <a:r>
              <a:rPr lang="en-US" dirty="0" err="1">
                <a:solidFill>
                  <a:srgbClr val="060507"/>
                </a:solidFill>
                <a:latin typeface="MS UI Gothic" panose="020B0600070205080204" pitchFamily="34" charset="-128"/>
                <a:ea typeface="MS UI Gothic" panose="020B0600070205080204" pitchFamily="34" charset="-128"/>
              </a:rPr>
              <a:t>fireChance</a:t>
            </a:r>
            <a:r>
              <a:rPr lang="en-US" dirty="0">
                <a:solidFill>
                  <a:srgbClr val="060507"/>
                </a:solidFill>
                <a:latin typeface="MS UI Gothic" panose="020B0600070205080204" pitchFamily="34" charset="-128"/>
                <a:ea typeface="MS UI Gothic" panose="020B0600070205080204" pitchFamily="34" charset="-128"/>
              </a:rPr>
              <a:t>) and time delay (</a:t>
            </a:r>
            <a:r>
              <a:rPr lang="en-US" dirty="0" err="1">
                <a:solidFill>
                  <a:srgbClr val="060507"/>
                </a:solidFill>
                <a:latin typeface="MS UI Gothic" panose="020B0600070205080204" pitchFamily="34" charset="-128"/>
                <a:ea typeface="MS UI Gothic" panose="020B0600070205080204" pitchFamily="34" charset="-128"/>
              </a:rPr>
              <a:t>fireDelay</a:t>
            </a:r>
            <a:r>
              <a:rPr lang="en-US" dirty="0">
                <a:solidFill>
                  <a:srgbClr val="060507"/>
                </a:solidFill>
                <a:latin typeface="MS UI Gothic" panose="020B0600070205080204" pitchFamily="34" charset="-128"/>
                <a:ea typeface="MS UI Gothic" panose="020B0600070205080204" pitchFamily="34" charset="-128"/>
              </a:rPr>
              <a:t>).</a:t>
            </a:r>
          </a:p>
          <a:p>
            <a:r>
              <a:rPr lang="en-US" dirty="0">
                <a:solidFill>
                  <a:srgbClr val="060507"/>
                </a:solidFill>
                <a:latin typeface="MS UI Gothic" panose="020B0600070205080204" pitchFamily="34" charset="-128"/>
                <a:ea typeface="MS UI Gothic" panose="020B0600070205080204" pitchFamily="34" charset="-128"/>
              </a:rPr>
              <a:t>The game includes </a:t>
            </a:r>
            <a:r>
              <a:rPr lang="en-US" b="1" dirty="0">
                <a:solidFill>
                  <a:srgbClr val="060507"/>
                </a:solidFill>
                <a:latin typeface="MS UI Gothic" panose="020B0600070205080204" pitchFamily="34" charset="-128"/>
                <a:ea typeface="MS UI Gothic" panose="020B0600070205080204" pitchFamily="34" charset="-128"/>
              </a:rPr>
              <a:t>multiple difficulty levels</a:t>
            </a:r>
            <a:r>
              <a:rPr lang="en-US" dirty="0">
                <a:solidFill>
                  <a:srgbClr val="060507"/>
                </a:solidFill>
                <a:latin typeface="MS UI Gothic" panose="020B0600070205080204" pitchFamily="34" charset="-128"/>
                <a:ea typeface="MS UI Gothic" panose="020B0600070205080204" pitchFamily="34" charset="-128"/>
              </a:rPr>
              <a:t> that control fire speed and spread. A </a:t>
            </a:r>
            <a:r>
              <a:rPr lang="en-US" b="1" dirty="0">
                <a:solidFill>
                  <a:srgbClr val="060507"/>
                </a:solidFill>
                <a:latin typeface="MS UI Gothic" panose="020B0600070205080204" pitchFamily="34" charset="-128"/>
                <a:ea typeface="MS UI Gothic" panose="020B0600070205080204" pitchFamily="34" charset="-128"/>
              </a:rPr>
              <a:t>lives system</a:t>
            </a:r>
            <a:r>
              <a:rPr lang="en-US" dirty="0">
                <a:solidFill>
                  <a:srgbClr val="060507"/>
                </a:solidFill>
                <a:latin typeface="MS UI Gothic" panose="020B0600070205080204" pitchFamily="34" charset="-128"/>
                <a:ea typeface="MS UI Gothic" panose="020B0600070205080204" pitchFamily="34" charset="-128"/>
              </a:rPr>
              <a:t> is implemented where the player loses a life on touching fire. The score is calculated based on survival time and level.</a:t>
            </a:r>
          </a:p>
          <a:p>
            <a:r>
              <a:rPr lang="en-US" dirty="0">
                <a:solidFill>
                  <a:srgbClr val="060507"/>
                </a:solidFill>
                <a:latin typeface="MS UI Gothic" panose="020B0600070205080204" pitchFamily="34" charset="-128"/>
                <a:ea typeface="MS UI Gothic" panose="020B0600070205080204" pitchFamily="34" charset="-128"/>
              </a:rPr>
              <a:t>File handling is used to store </a:t>
            </a:r>
            <a:r>
              <a:rPr lang="en-US" b="1" dirty="0">
                <a:solidFill>
                  <a:srgbClr val="060507"/>
                </a:solidFill>
                <a:latin typeface="MS UI Gothic" panose="020B0600070205080204" pitchFamily="34" charset="-128"/>
                <a:ea typeface="MS UI Gothic" panose="020B0600070205080204" pitchFamily="34" charset="-128"/>
              </a:rPr>
              <a:t>high score, score history, and leaderboard</a:t>
            </a:r>
            <a:r>
              <a:rPr lang="en-US" dirty="0">
                <a:solidFill>
                  <a:srgbClr val="060507"/>
                </a:solidFill>
                <a:latin typeface="MS UI Gothic" panose="020B0600070205080204" pitchFamily="34" charset="-128"/>
                <a:ea typeface="MS UI Gothic" panose="020B0600070205080204" pitchFamily="34" charset="-128"/>
              </a:rPr>
              <a:t> using text files. The console interface is enhanced using cursor control, colors, and sound functions from </a:t>
            </a:r>
            <a:r>
              <a:rPr lang="en-US" dirty="0" err="1">
                <a:solidFill>
                  <a:srgbClr val="060507"/>
                </a:solidFill>
                <a:latin typeface="MS UI Gothic" panose="020B0600070205080204" pitchFamily="34" charset="-128"/>
                <a:ea typeface="MS UI Gothic" panose="020B0600070205080204" pitchFamily="34" charset="-128"/>
              </a:rPr>
              <a:t>windows.h</a:t>
            </a:r>
            <a:r>
              <a:rPr lang="en-US" dirty="0">
                <a:solidFill>
                  <a:srgbClr val="060507"/>
                </a:solidFill>
                <a:latin typeface="MS UI Gothic" panose="020B0600070205080204" pitchFamily="34" charset="-128"/>
                <a:ea typeface="MS UI Gothic" panose="020B0600070205080204" pitchFamily="34" charset="-128"/>
              </a:rPr>
              <a:t>.</a:t>
            </a:r>
          </a:p>
          <a:p>
            <a:r>
              <a:rPr lang="en-US" dirty="0">
                <a:solidFill>
                  <a:srgbClr val="060507"/>
                </a:solidFill>
                <a:latin typeface="MS UI Gothic" panose="020B0600070205080204" pitchFamily="34" charset="-128"/>
                <a:ea typeface="MS UI Gothic" panose="020B0600070205080204" pitchFamily="34" charset="-128"/>
              </a:rPr>
              <a:t>The game continues until the player reaches the exit (win) or loses all lives (game over).</a:t>
            </a:r>
          </a:p>
          <a:p>
            <a:pPr marL="0" lvl="0" indent="0" algn="l" rtl="0">
              <a:spcBef>
                <a:spcPts val="0"/>
              </a:spcBef>
              <a:spcAft>
                <a:spcPts val="120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15037B-F3B6-8594-16ED-2AA736D0CC9A}"/>
              </a:ext>
            </a:extLst>
          </p:cNvPr>
          <p:cNvSpPr txBox="1"/>
          <p:nvPr/>
        </p:nvSpPr>
        <p:spPr>
          <a:xfrm>
            <a:off x="802888" y="252761"/>
            <a:ext cx="6698166" cy="4924425"/>
          </a:xfrm>
          <a:prstGeom prst="rect">
            <a:avLst/>
          </a:prstGeom>
          <a:noFill/>
        </p:spPr>
        <p:txBody>
          <a:bodyPr wrap="square" rtlCol="0">
            <a:spAutoFit/>
          </a:bodyPr>
          <a:lstStyle/>
          <a:p>
            <a:pPr marL="342900" indent="-342900">
              <a:buFont typeface="Arial" panose="020B0604020202020204" pitchFamily="34" charset="0"/>
              <a:buChar char="•"/>
            </a:pPr>
            <a:r>
              <a:rPr lang="en-IN" sz="2000" b="1" dirty="0">
                <a:latin typeface="MS UI Gothic" panose="020B0600070205080204" pitchFamily="34" charset="-128"/>
                <a:ea typeface="MS UI Gothic" panose="020B0600070205080204" pitchFamily="34" charset="-128"/>
              </a:rPr>
              <a:t>Hardware:</a:t>
            </a:r>
            <a:r>
              <a:rPr lang="en-IN" sz="2000" dirty="0">
                <a:latin typeface="MS UI Gothic" panose="020B0600070205080204" pitchFamily="34" charset="-128"/>
                <a:ea typeface="MS UI Gothic" panose="020B0600070205080204" pitchFamily="34" charset="-128"/>
              </a:rPr>
              <a:t> </a:t>
            </a:r>
          </a:p>
          <a:p>
            <a:pPr lvl="1"/>
            <a:r>
              <a:rPr lang="en-IN" sz="2000" dirty="0">
                <a:latin typeface="MS UI Gothic" panose="020B0600070205080204" pitchFamily="34" charset="-128"/>
                <a:ea typeface="MS UI Gothic" panose="020B0600070205080204" pitchFamily="34" charset="-128"/>
              </a:rPr>
              <a:t>PC/Laptop with minimum </a:t>
            </a:r>
            <a:r>
              <a:rPr lang="en-IN" sz="2000" b="1" dirty="0">
                <a:latin typeface="MS UI Gothic" panose="020B0600070205080204" pitchFamily="34" charset="-128"/>
                <a:ea typeface="MS UI Gothic" panose="020B0600070205080204" pitchFamily="34" charset="-128"/>
              </a:rPr>
              <a:t>4 GB RAM</a:t>
            </a:r>
            <a:r>
              <a:rPr lang="en-IN" sz="2000" dirty="0">
                <a:latin typeface="MS UI Gothic" panose="020B0600070205080204" pitchFamily="34" charset="-128"/>
                <a:ea typeface="MS UI Gothic" panose="020B0600070205080204" pitchFamily="34" charset="-128"/>
              </a:rPr>
              <a:t>, standard keyboard </a:t>
            </a:r>
          </a:p>
          <a:p>
            <a:pPr marL="342900" indent="-342900">
              <a:buFont typeface="Arial" panose="020B0604020202020204" pitchFamily="34" charset="0"/>
              <a:buChar char="•"/>
            </a:pPr>
            <a:r>
              <a:rPr lang="en-IN" sz="2000" b="1" dirty="0">
                <a:latin typeface="MS UI Gothic" panose="020B0600070205080204" pitchFamily="34" charset="-128"/>
                <a:ea typeface="MS UI Gothic" panose="020B0600070205080204" pitchFamily="34" charset="-128"/>
              </a:rPr>
              <a:t>Software:</a:t>
            </a:r>
            <a:r>
              <a:rPr lang="en-IN" sz="2000" dirty="0">
                <a:latin typeface="MS UI Gothic" panose="020B0600070205080204" pitchFamily="34" charset="-128"/>
                <a:ea typeface="MS UI Gothic" panose="020B0600070205080204" pitchFamily="34" charset="-128"/>
              </a:rPr>
              <a:t> </a:t>
            </a:r>
          </a:p>
          <a:p>
            <a:pPr lvl="1"/>
            <a:r>
              <a:rPr lang="en-IN" sz="2000" b="1" dirty="0">
                <a:latin typeface="MS UI Gothic" panose="020B0600070205080204" pitchFamily="34" charset="-128"/>
                <a:ea typeface="MS UI Gothic" panose="020B0600070205080204" pitchFamily="34" charset="-128"/>
              </a:rPr>
              <a:t>C Compiler</a:t>
            </a:r>
            <a:r>
              <a:rPr lang="en-IN" sz="2000" dirty="0">
                <a:latin typeface="MS UI Gothic" panose="020B0600070205080204" pitchFamily="34" charset="-128"/>
                <a:ea typeface="MS UI Gothic" panose="020B0600070205080204" pitchFamily="34" charset="-128"/>
              </a:rPr>
              <a:t> (</a:t>
            </a:r>
            <a:r>
              <a:rPr lang="en-IN" sz="2000" dirty="0" err="1">
                <a:latin typeface="MS UI Gothic" panose="020B0600070205080204" pitchFamily="34" charset="-128"/>
                <a:ea typeface="MS UI Gothic" panose="020B0600070205080204" pitchFamily="34" charset="-128"/>
              </a:rPr>
              <a:t>CodeBlocks</a:t>
            </a:r>
            <a:r>
              <a:rPr lang="en-IN" sz="2000" dirty="0">
                <a:latin typeface="MS UI Gothic" panose="020B0600070205080204" pitchFamily="34" charset="-128"/>
                <a:ea typeface="MS UI Gothic" panose="020B0600070205080204" pitchFamily="34" charset="-128"/>
              </a:rPr>
              <a:t> / Dev C++ / GCC) </a:t>
            </a:r>
          </a:p>
          <a:p>
            <a:pPr lvl="1"/>
            <a:r>
              <a:rPr lang="en-IN" sz="2000" b="1" dirty="0">
                <a:latin typeface="MS UI Gothic" panose="020B0600070205080204" pitchFamily="34" charset="-128"/>
                <a:ea typeface="MS UI Gothic" panose="020B0600070205080204" pitchFamily="34" charset="-128"/>
              </a:rPr>
              <a:t>Windows OS</a:t>
            </a:r>
            <a:r>
              <a:rPr lang="en-IN" sz="2000" dirty="0">
                <a:latin typeface="MS UI Gothic" panose="020B0600070205080204" pitchFamily="34" charset="-128"/>
                <a:ea typeface="MS UI Gothic" panose="020B0600070205080204" pitchFamily="34" charset="-128"/>
              </a:rPr>
              <a:t> (uses </a:t>
            </a:r>
            <a:r>
              <a:rPr lang="en-IN" sz="2000" dirty="0" err="1">
                <a:latin typeface="MS UI Gothic" panose="020B0600070205080204" pitchFamily="34" charset="-128"/>
                <a:ea typeface="MS UI Gothic" panose="020B0600070205080204" pitchFamily="34" charset="-128"/>
              </a:rPr>
              <a:t>windows.h</a:t>
            </a:r>
            <a:r>
              <a:rPr lang="en-IN" sz="2000" dirty="0">
                <a:latin typeface="MS UI Gothic" panose="020B0600070205080204" pitchFamily="34" charset="-128"/>
                <a:ea typeface="MS UI Gothic" panose="020B0600070205080204" pitchFamily="34" charset="-128"/>
              </a:rPr>
              <a:t>, </a:t>
            </a:r>
            <a:r>
              <a:rPr lang="en-IN" sz="2000" dirty="0" err="1">
                <a:latin typeface="MS UI Gothic" panose="020B0600070205080204" pitchFamily="34" charset="-128"/>
                <a:ea typeface="MS UI Gothic" panose="020B0600070205080204" pitchFamily="34" charset="-128"/>
              </a:rPr>
              <a:t>conio.h</a:t>
            </a:r>
            <a:r>
              <a:rPr lang="en-IN" sz="2000" dirty="0">
                <a:latin typeface="MS UI Gothic" panose="020B0600070205080204" pitchFamily="34" charset="-128"/>
                <a:ea typeface="MS UI Gothic" panose="020B0600070205080204" pitchFamily="34" charset="-128"/>
              </a:rPr>
              <a:t>) </a:t>
            </a:r>
          </a:p>
          <a:p>
            <a:r>
              <a:rPr lang="en-IN" sz="2000" b="1" dirty="0">
                <a:latin typeface="MS UI Gothic" panose="020B0600070205080204" pitchFamily="34" charset="-128"/>
                <a:ea typeface="MS UI Gothic" panose="020B0600070205080204" pitchFamily="34" charset="-128"/>
              </a:rPr>
              <a:t>Execution Environment:</a:t>
            </a:r>
            <a:r>
              <a:rPr lang="en-IN" sz="2000" dirty="0">
                <a:latin typeface="MS UI Gothic" panose="020B0600070205080204" pitchFamily="34" charset="-128"/>
                <a:ea typeface="MS UI Gothic" panose="020B0600070205080204" pitchFamily="34" charset="-128"/>
              </a:rPr>
              <a:t> </a:t>
            </a:r>
          </a:p>
          <a:p>
            <a:pPr lvl="1"/>
            <a:r>
              <a:rPr lang="en-IN" sz="2000" dirty="0">
                <a:latin typeface="MS UI Gothic" panose="020B0600070205080204" pitchFamily="34" charset="-128"/>
                <a:ea typeface="MS UI Gothic" panose="020B0600070205080204" pitchFamily="34" charset="-128"/>
              </a:rPr>
              <a:t>Console-based application (Command Prompt) </a:t>
            </a:r>
          </a:p>
          <a:p>
            <a:pPr lvl="1"/>
            <a:r>
              <a:rPr lang="en-IN" sz="2000" dirty="0">
                <a:latin typeface="MS UI Gothic" panose="020B0600070205080204" pitchFamily="34" charset="-128"/>
                <a:ea typeface="MS UI Gothic" panose="020B0600070205080204" pitchFamily="34" charset="-128"/>
              </a:rPr>
              <a:t>Real-time input using keyboard </a:t>
            </a:r>
          </a:p>
          <a:p>
            <a:pPr marL="342900" indent="-342900">
              <a:buFont typeface="Arial" panose="020B0604020202020204" pitchFamily="34" charset="0"/>
              <a:buChar char="•"/>
            </a:pPr>
            <a:r>
              <a:rPr lang="en-IN" sz="2000" b="1" dirty="0">
                <a:latin typeface="MS UI Gothic" panose="020B0600070205080204" pitchFamily="34" charset="-128"/>
                <a:ea typeface="MS UI Gothic" panose="020B0600070205080204" pitchFamily="34" charset="-128"/>
              </a:rPr>
              <a:t>Testing:</a:t>
            </a:r>
            <a:r>
              <a:rPr lang="en-IN" sz="2000" dirty="0">
                <a:latin typeface="MS UI Gothic" panose="020B0600070205080204" pitchFamily="34" charset="-128"/>
                <a:ea typeface="MS UI Gothic" panose="020B0600070205080204" pitchFamily="34" charset="-128"/>
              </a:rPr>
              <a:t> </a:t>
            </a:r>
          </a:p>
          <a:p>
            <a:pPr lvl="1"/>
            <a:r>
              <a:rPr lang="en-IN" sz="2000" dirty="0">
                <a:latin typeface="MS UI Gothic" panose="020B0600070205080204" pitchFamily="34" charset="-128"/>
                <a:ea typeface="MS UI Gothic" panose="020B0600070205080204" pitchFamily="34" charset="-128"/>
              </a:rPr>
              <a:t>Checked all difficulty levels (Easy, Medium, Hard) </a:t>
            </a:r>
          </a:p>
          <a:p>
            <a:pPr lvl="1"/>
            <a:r>
              <a:rPr lang="en-IN" sz="2000" dirty="0">
                <a:latin typeface="MS UI Gothic" panose="020B0600070205080204" pitchFamily="34" charset="-128"/>
                <a:ea typeface="MS UI Gothic" panose="020B0600070205080204" pitchFamily="34" charset="-128"/>
              </a:rPr>
              <a:t>Verified movement, fire spread, and collision logic </a:t>
            </a:r>
          </a:p>
          <a:p>
            <a:pPr lvl="1"/>
            <a:r>
              <a:rPr lang="en-IN" sz="2000" dirty="0">
                <a:latin typeface="MS UI Gothic" panose="020B0600070205080204" pitchFamily="34" charset="-128"/>
                <a:ea typeface="MS UI Gothic" panose="020B0600070205080204" pitchFamily="34" charset="-128"/>
              </a:rPr>
              <a:t>Tested file handling (high score, history, leaderboard) </a:t>
            </a:r>
          </a:p>
          <a:p>
            <a:pPr marL="342900" indent="-342900">
              <a:buFont typeface="Arial" panose="020B0604020202020204" pitchFamily="34" charset="0"/>
              <a:buChar char="•"/>
            </a:pPr>
            <a:r>
              <a:rPr lang="en-IN" sz="2000" b="1" dirty="0">
                <a:latin typeface="MS UI Gothic" panose="020B0600070205080204" pitchFamily="34" charset="-128"/>
                <a:ea typeface="MS UI Gothic" panose="020B0600070205080204" pitchFamily="34" charset="-128"/>
              </a:rPr>
              <a:t>Observation:</a:t>
            </a:r>
            <a:r>
              <a:rPr lang="en-IN" sz="2000" dirty="0">
                <a:latin typeface="MS UI Gothic" panose="020B0600070205080204" pitchFamily="34" charset="-128"/>
                <a:ea typeface="MS UI Gothic" panose="020B0600070205080204" pitchFamily="34" charset="-128"/>
              </a:rPr>
              <a:t> </a:t>
            </a:r>
          </a:p>
          <a:p>
            <a:pPr lvl="1"/>
            <a:r>
              <a:rPr lang="en-IN" sz="2000" dirty="0">
                <a:latin typeface="MS UI Gothic" panose="020B0600070205080204" pitchFamily="34" charset="-128"/>
                <a:ea typeface="MS UI Gothic" panose="020B0600070205080204" pitchFamily="34" charset="-128"/>
              </a:rPr>
              <a:t>Fire spreads faster at higher levels </a:t>
            </a:r>
          </a:p>
          <a:p>
            <a:pPr lvl="1"/>
            <a:r>
              <a:rPr lang="en-IN" sz="2000" dirty="0">
                <a:latin typeface="MS UI Gothic" panose="020B0600070205080204" pitchFamily="34" charset="-128"/>
                <a:ea typeface="MS UI Gothic" panose="020B0600070205080204" pitchFamily="34" charset="-128"/>
              </a:rPr>
              <a:t>Game difficulty increases with time </a:t>
            </a:r>
          </a:p>
          <a:p>
            <a:endParaRPr lang="en-IN" dirty="0"/>
          </a:p>
        </p:txBody>
      </p:sp>
    </p:spTree>
    <p:extLst>
      <p:ext uri="{BB962C8B-B14F-4D97-AF65-F5344CB8AC3E}">
        <p14:creationId xmlns:p14="http://schemas.microsoft.com/office/powerpoint/2010/main" val="2868255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Results and Conclusion</a:t>
            </a:r>
            <a:endParaRPr dirty="0"/>
          </a:p>
        </p:txBody>
      </p:sp>
      <p:sp>
        <p:nvSpPr>
          <p:cNvPr id="125" name="Google Shape;125;p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92500" lnSpcReduction="10000"/>
          </a:bodyPr>
          <a:lstStyle/>
          <a:p>
            <a:pPr marL="0" lvl="0" indent="0">
              <a:spcAft>
                <a:spcPts val="1200"/>
              </a:spcAft>
              <a:buNone/>
            </a:pPr>
            <a:r>
              <a:rPr lang="en-US" dirty="0">
                <a:solidFill>
                  <a:srgbClr val="080300"/>
                </a:solidFill>
                <a:latin typeface="MS UI Gothic" panose="020B0600070205080204" pitchFamily="34" charset="-128"/>
                <a:ea typeface="MS UI Gothic" panose="020B0600070205080204" pitchFamily="34" charset="-128"/>
              </a:rPr>
              <a:t>The Fire Escape Game was successfully implemented as a console-based application with smooth and responsive gameplay. The player movement works in real time, and the fire spreading algorithm behaves dynamically, making each game session unique and challenging. Features like score calculation, high score tracking, match history, and leaderboard function correctly, ensuring a complete and interactive user experience.</a:t>
            </a:r>
          </a:p>
          <a:p>
            <a:pPr marL="0" lvl="0" indent="0">
              <a:spcAft>
                <a:spcPts val="1200"/>
              </a:spcAft>
              <a:buNone/>
            </a:pPr>
            <a:r>
              <a:rPr lang="en-US" dirty="0">
                <a:solidFill>
                  <a:srgbClr val="080300"/>
                </a:solidFill>
                <a:latin typeface="MS UI Gothic" panose="020B0600070205080204" pitchFamily="34" charset="-128"/>
                <a:ea typeface="MS UI Gothic" panose="020B0600070205080204" pitchFamily="34" charset="-128"/>
              </a:rPr>
              <a:t>The project achieved its objective of developing an interactive game using C programming while effectively applying core concepts such as arrays, loops, functions, and file handling. It enhanced problem-solving abilities and provided practical exposure to real-time system design. Overall, the project serves as a strong foundation for building more advanced and feature-rich applications in the future.</a:t>
            </a:r>
            <a:endParaRPr dirty="0">
              <a:solidFill>
                <a:srgbClr val="080300"/>
              </a:solidFill>
              <a:latin typeface="MS UI Gothic" panose="020B0600070205080204" pitchFamily="34" charset="-128"/>
              <a:ea typeface="MS UI Gothic" panose="020B0600070205080204" pitchFamily="3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311700" y="4549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References</a:t>
            </a:r>
            <a:endParaRPr dirty="0"/>
          </a:p>
        </p:txBody>
      </p:sp>
      <p:sp>
        <p:nvSpPr>
          <p:cNvPr id="131" name="Google Shape;131;p23"/>
          <p:cNvSpPr txBox="1">
            <a:spLocks noGrp="1"/>
          </p:cNvSpPr>
          <p:nvPr>
            <p:ph type="body" idx="1"/>
          </p:nvPr>
        </p:nvSpPr>
        <p:spPr>
          <a:xfrm>
            <a:off x="400910" y="470870"/>
            <a:ext cx="8520600" cy="3302700"/>
          </a:xfrm>
          <a:prstGeom prst="rect">
            <a:avLst/>
          </a:prstGeom>
        </p:spPr>
        <p:txBody>
          <a:bodyPr spcFirstLastPara="1" wrap="square" lIns="91425" tIns="91425" rIns="91425" bIns="91425" anchor="t" anchorCtr="0">
            <a:normAutofit fontScale="25000" lnSpcReduction="20000"/>
          </a:bodyPr>
          <a:lstStyle/>
          <a:p>
            <a:r>
              <a:rPr lang="en-IN" sz="3200" dirty="0">
                <a:solidFill>
                  <a:srgbClr val="080300"/>
                </a:solidFill>
                <a:latin typeface="MS UI Gothic" panose="020B0600070205080204" pitchFamily="34" charset="-128"/>
                <a:ea typeface="MS UI Gothic" panose="020B0600070205080204" pitchFamily="34" charset="-128"/>
              </a:rPr>
              <a:t> </a:t>
            </a:r>
            <a:r>
              <a:rPr lang="en-IN" sz="6400" dirty="0" err="1">
                <a:solidFill>
                  <a:srgbClr val="080300"/>
                </a:solidFill>
                <a:latin typeface="MS UI Gothic" panose="020B0600070205080204" pitchFamily="34" charset="-128"/>
                <a:ea typeface="MS UI Gothic" panose="020B0600070205080204" pitchFamily="34" charset="-128"/>
              </a:rPr>
              <a:t>TutorialsPoint</a:t>
            </a:r>
            <a:r>
              <a:rPr lang="en-IN" sz="6400" dirty="0">
                <a:solidFill>
                  <a:srgbClr val="080300"/>
                </a:solidFill>
                <a:latin typeface="MS UI Gothic" panose="020B0600070205080204" pitchFamily="34" charset="-128"/>
                <a:ea typeface="MS UI Gothic" panose="020B0600070205080204" pitchFamily="34" charset="-128"/>
              </a:rPr>
              <a:t>, “Countdown Timer Implementation in C,” </a:t>
            </a:r>
            <a:r>
              <a:rPr lang="en-IN" sz="6400" i="1" dirty="0" err="1">
                <a:solidFill>
                  <a:srgbClr val="080300"/>
                </a:solidFill>
                <a:latin typeface="MS UI Gothic" panose="020B0600070205080204" pitchFamily="34" charset="-128"/>
                <a:ea typeface="MS UI Gothic" panose="020B0600070205080204" pitchFamily="34" charset="-128"/>
              </a:rPr>
              <a:t>TutorialsPoint</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3">
                  <a:extLst>
                    <a:ext uri="{A12FA001-AC4F-418D-AE19-62706E023703}">
                      <ahyp:hlinkClr xmlns:ahyp="http://schemas.microsoft.com/office/drawing/2018/hyperlinkcolor" val="tx"/>
                    </a:ext>
                  </a:extLst>
                </a:hlinkClick>
              </a:rPr>
              <a:t>https://www.tutorialspoint.com</a:t>
            </a:r>
            <a:endParaRPr lang="en-IN" sz="6400" dirty="0">
              <a:solidFill>
                <a:srgbClr val="080300"/>
              </a:solidFill>
              <a:latin typeface="MS UI Gothic" panose="020B0600070205080204" pitchFamily="34" charset="-128"/>
              <a:ea typeface="MS UI Gothic" panose="020B0600070205080204" pitchFamily="34" charset="-128"/>
            </a:endParaRPr>
          </a:p>
          <a:p>
            <a:r>
              <a:rPr lang="en-IN" sz="6400" dirty="0" err="1">
                <a:solidFill>
                  <a:srgbClr val="080300"/>
                </a:solidFill>
                <a:latin typeface="MS UI Gothic" panose="020B0600070205080204" pitchFamily="34" charset="-128"/>
                <a:ea typeface="MS UI Gothic" panose="020B0600070205080204" pitchFamily="34" charset="-128"/>
              </a:rPr>
              <a:t>GeeksforGeeks</a:t>
            </a:r>
            <a:r>
              <a:rPr lang="en-IN" sz="6400" dirty="0">
                <a:solidFill>
                  <a:srgbClr val="080300"/>
                </a:solidFill>
                <a:latin typeface="MS UI Gothic" panose="020B0600070205080204" pitchFamily="34" charset="-128"/>
                <a:ea typeface="MS UI Gothic" panose="020B0600070205080204" pitchFamily="34" charset="-128"/>
              </a:rPr>
              <a:t>, “Maze and Grid Navigation in C,” </a:t>
            </a:r>
            <a:r>
              <a:rPr lang="en-IN" sz="6400" i="1" dirty="0" err="1">
                <a:solidFill>
                  <a:srgbClr val="080300"/>
                </a:solidFill>
                <a:latin typeface="MS UI Gothic" panose="020B0600070205080204" pitchFamily="34" charset="-128"/>
                <a:ea typeface="MS UI Gothic" panose="020B0600070205080204" pitchFamily="34" charset="-128"/>
              </a:rPr>
              <a:t>GeeksforGeeks</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4">
                  <a:extLst>
                    <a:ext uri="{A12FA001-AC4F-418D-AE19-62706E023703}">
                      <ahyp:hlinkClr xmlns:ahyp="http://schemas.microsoft.com/office/drawing/2018/hyperlinkcolor" val="tx"/>
                    </a:ext>
                  </a:extLst>
                </a:hlinkClick>
              </a:rPr>
              <a:t>https://www.geeksforgeeks.org</a:t>
            </a:r>
            <a:endParaRPr lang="en-IN" sz="6400" u="sng" dirty="0">
              <a:solidFill>
                <a:srgbClr val="080300"/>
              </a:solidFill>
              <a:latin typeface="MS UI Gothic" panose="020B0600070205080204" pitchFamily="34" charset="-128"/>
              <a:ea typeface="MS UI Gothic" panose="020B0600070205080204" pitchFamily="34" charset="-128"/>
            </a:endParaRPr>
          </a:p>
          <a:p>
            <a:r>
              <a:rPr lang="en-IN" sz="6400" dirty="0">
                <a:solidFill>
                  <a:srgbClr val="080300"/>
                </a:solidFill>
                <a:latin typeface="MS UI Gothic" panose="020B0600070205080204" pitchFamily="34" charset="-128"/>
                <a:ea typeface="MS UI Gothic" panose="020B0600070205080204" pitchFamily="34" charset="-128"/>
              </a:rPr>
              <a:t> ResearchGate, “Fire Spread Simulation Logic,” </a:t>
            </a:r>
            <a:r>
              <a:rPr lang="en-IN" sz="6400" i="1" dirty="0">
                <a:solidFill>
                  <a:srgbClr val="080300"/>
                </a:solidFill>
                <a:latin typeface="MS UI Gothic" panose="020B0600070205080204" pitchFamily="34" charset="-128"/>
                <a:ea typeface="MS UI Gothic" panose="020B0600070205080204" pitchFamily="34" charset="-128"/>
              </a:rPr>
              <a:t>ResearchGate</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5">
                  <a:extLst>
                    <a:ext uri="{A12FA001-AC4F-418D-AE19-62706E023703}">
                      <ahyp:hlinkClr xmlns:ahyp="http://schemas.microsoft.com/office/drawing/2018/hyperlinkcolor" val="tx"/>
                    </a:ext>
                  </a:extLst>
                </a:hlinkClick>
              </a:rPr>
              <a:t>https://www.researchgate.net</a:t>
            </a:r>
            <a:endParaRPr lang="en-IN" sz="6400" u="sng" dirty="0">
              <a:solidFill>
                <a:srgbClr val="080300"/>
              </a:solidFill>
              <a:latin typeface="MS UI Gothic" panose="020B0600070205080204" pitchFamily="34" charset="-128"/>
              <a:ea typeface="MS UI Gothic" panose="020B0600070205080204" pitchFamily="34" charset="-128"/>
            </a:endParaRPr>
          </a:p>
          <a:p>
            <a:r>
              <a:rPr lang="en-IN" sz="6400" dirty="0" err="1">
                <a:solidFill>
                  <a:srgbClr val="080300"/>
                </a:solidFill>
                <a:latin typeface="MS UI Gothic" panose="020B0600070205080204" pitchFamily="34" charset="-128"/>
                <a:ea typeface="MS UI Gothic" panose="020B0600070205080204" pitchFamily="34" charset="-128"/>
              </a:rPr>
              <a:t>GeeksforGeeks</a:t>
            </a:r>
            <a:r>
              <a:rPr lang="en-IN" sz="6400" dirty="0">
                <a:solidFill>
                  <a:srgbClr val="080300"/>
                </a:solidFill>
                <a:latin typeface="MS UI Gothic" panose="020B0600070205080204" pitchFamily="34" charset="-128"/>
                <a:ea typeface="MS UI Gothic" panose="020B0600070205080204" pitchFamily="34" charset="-128"/>
              </a:rPr>
              <a:t>, “Game Programming in C: A Beginner's Approach,” </a:t>
            </a:r>
            <a:r>
              <a:rPr lang="en-IN" sz="6400" i="1" dirty="0" err="1">
                <a:solidFill>
                  <a:srgbClr val="080300"/>
                </a:solidFill>
                <a:latin typeface="MS UI Gothic" panose="020B0600070205080204" pitchFamily="34" charset="-128"/>
                <a:ea typeface="MS UI Gothic" panose="020B0600070205080204" pitchFamily="34" charset="-128"/>
              </a:rPr>
              <a:t>GeeksforGeeks</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4">
                  <a:extLst>
                    <a:ext uri="{A12FA001-AC4F-418D-AE19-62706E023703}">
                      <ahyp:hlinkClr xmlns:ahyp="http://schemas.microsoft.com/office/drawing/2018/hyperlinkcolor" val="tx"/>
                    </a:ext>
                  </a:extLst>
                </a:hlinkClick>
              </a:rPr>
              <a:t>https://www.geeksforgeeks.org</a:t>
            </a:r>
            <a:endParaRPr lang="en-IN" sz="6400" u="sng" dirty="0">
              <a:solidFill>
                <a:srgbClr val="080300"/>
              </a:solidFill>
              <a:latin typeface="MS UI Gothic" panose="020B0600070205080204" pitchFamily="34" charset="-128"/>
              <a:ea typeface="MS UI Gothic" panose="020B0600070205080204" pitchFamily="34" charset="-128"/>
            </a:endParaRPr>
          </a:p>
          <a:p>
            <a:r>
              <a:rPr lang="en-IN" sz="6400" dirty="0" err="1">
                <a:solidFill>
                  <a:srgbClr val="080300"/>
                </a:solidFill>
                <a:latin typeface="MS UI Gothic" panose="020B0600070205080204" pitchFamily="34" charset="-128"/>
                <a:ea typeface="MS UI Gothic" panose="020B0600070205080204" pitchFamily="34" charset="-128"/>
              </a:rPr>
              <a:t>CodeWithHarry</a:t>
            </a:r>
            <a:r>
              <a:rPr lang="en-IN" sz="6400" dirty="0">
                <a:solidFill>
                  <a:srgbClr val="080300"/>
                </a:solidFill>
                <a:latin typeface="MS UI Gothic" panose="020B0600070205080204" pitchFamily="34" charset="-128"/>
                <a:ea typeface="MS UI Gothic" panose="020B0600070205080204" pitchFamily="34" charset="-128"/>
              </a:rPr>
              <a:t>, “Console Game Development Using C,” </a:t>
            </a:r>
            <a:r>
              <a:rPr lang="en-IN" sz="6400" i="1" dirty="0" err="1">
                <a:solidFill>
                  <a:srgbClr val="080300"/>
                </a:solidFill>
                <a:latin typeface="MS UI Gothic" panose="020B0600070205080204" pitchFamily="34" charset="-128"/>
                <a:ea typeface="MS UI Gothic" panose="020B0600070205080204" pitchFamily="34" charset="-128"/>
              </a:rPr>
              <a:t>CodeWithHarry</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6">
                  <a:extLst>
                    <a:ext uri="{A12FA001-AC4F-418D-AE19-62706E023703}">
                      <ahyp:hlinkClr xmlns:ahyp="http://schemas.microsoft.com/office/drawing/2018/hyperlinkcolor" val="tx"/>
                    </a:ext>
                  </a:extLst>
                </a:hlinkClick>
              </a:rPr>
              <a:t>https://www.codewithharry.com</a:t>
            </a:r>
            <a:endParaRPr lang="en-IN" sz="6400" dirty="0">
              <a:solidFill>
                <a:srgbClr val="080300"/>
              </a:solidFill>
              <a:latin typeface="MS UI Gothic" panose="020B0600070205080204" pitchFamily="34" charset="-128"/>
              <a:ea typeface="MS UI Gothic" panose="020B0600070205080204" pitchFamily="34" charset="-128"/>
            </a:endParaRPr>
          </a:p>
          <a:p>
            <a:r>
              <a:rPr lang="en-IN" sz="6400" dirty="0">
                <a:solidFill>
                  <a:srgbClr val="080300"/>
                </a:solidFill>
                <a:latin typeface="MS UI Gothic" panose="020B0600070205080204" pitchFamily="34" charset="-128"/>
                <a:ea typeface="MS UI Gothic" panose="020B0600070205080204" pitchFamily="34" charset="-128"/>
              </a:rPr>
              <a:t>Microsoft Corporation, “Console Manipulation Using </a:t>
            </a:r>
            <a:r>
              <a:rPr lang="en-IN" sz="6400" dirty="0" err="1">
                <a:solidFill>
                  <a:srgbClr val="080300"/>
                </a:solidFill>
                <a:latin typeface="MS UI Gothic" panose="020B0600070205080204" pitchFamily="34" charset="-128"/>
                <a:ea typeface="MS UI Gothic" panose="020B0600070205080204" pitchFamily="34" charset="-128"/>
              </a:rPr>
              <a:t>Windows.h</a:t>
            </a:r>
            <a:r>
              <a:rPr lang="en-IN" sz="6400" dirty="0">
                <a:solidFill>
                  <a:srgbClr val="080300"/>
                </a:solidFill>
                <a:latin typeface="MS UI Gothic" panose="020B0600070205080204" pitchFamily="34" charset="-128"/>
                <a:ea typeface="MS UI Gothic" panose="020B0600070205080204" pitchFamily="34" charset="-128"/>
              </a:rPr>
              <a:t>,” </a:t>
            </a:r>
            <a:r>
              <a:rPr lang="en-IN" sz="6400" i="1" dirty="0">
                <a:solidFill>
                  <a:srgbClr val="080300"/>
                </a:solidFill>
                <a:latin typeface="MS UI Gothic" panose="020B0600070205080204" pitchFamily="34" charset="-128"/>
                <a:ea typeface="MS UI Gothic" panose="020B0600070205080204" pitchFamily="34" charset="-128"/>
              </a:rPr>
              <a:t>Microsoft Docs</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7">
                  <a:extLst>
                    <a:ext uri="{A12FA001-AC4F-418D-AE19-62706E023703}">
                      <ahyp:hlinkClr xmlns:ahyp="http://schemas.microsoft.com/office/drawing/2018/hyperlinkcolor" val="tx"/>
                    </a:ext>
                  </a:extLst>
                </a:hlinkClick>
              </a:rPr>
              <a:t>https://learn.microsoft.com</a:t>
            </a:r>
            <a:endParaRPr lang="en-IN" sz="6400" u="sng" dirty="0">
              <a:solidFill>
                <a:srgbClr val="080300"/>
              </a:solidFill>
              <a:latin typeface="MS UI Gothic" panose="020B0600070205080204" pitchFamily="34" charset="-128"/>
              <a:ea typeface="MS UI Gothic" panose="020B0600070205080204" pitchFamily="34" charset="-128"/>
            </a:endParaRPr>
          </a:p>
          <a:p>
            <a:r>
              <a:rPr lang="en-IN" sz="6400" dirty="0" err="1">
                <a:solidFill>
                  <a:srgbClr val="080300"/>
                </a:solidFill>
                <a:latin typeface="MS UI Gothic" panose="020B0600070205080204" pitchFamily="34" charset="-128"/>
                <a:ea typeface="MS UI Gothic" panose="020B0600070205080204" pitchFamily="34" charset="-128"/>
              </a:rPr>
              <a:t>TutorialsPoint</a:t>
            </a:r>
            <a:r>
              <a:rPr lang="en-IN" sz="6400" dirty="0">
                <a:solidFill>
                  <a:srgbClr val="080300"/>
                </a:solidFill>
                <a:latin typeface="MS UI Gothic" panose="020B0600070205080204" pitchFamily="34" charset="-128"/>
                <a:ea typeface="MS UI Gothic" panose="020B0600070205080204" pitchFamily="34" charset="-128"/>
              </a:rPr>
              <a:t>, “Random Number Generation in C,” </a:t>
            </a:r>
            <a:r>
              <a:rPr lang="en-IN" sz="6400" i="1" dirty="0" err="1">
                <a:solidFill>
                  <a:srgbClr val="080300"/>
                </a:solidFill>
                <a:latin typeface="MS UI Gothic" panose="020B0600070205080204" pitchFamily="34" charset="-128"/>
                <a:ea typeface="MS UI Gothic" panose="020B0600070205080204" pitchFamily="34" charset="-128"/>
              </a:rPr>
              <a:t>TutorialsPoint</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3">
                  <a:extLst>
                    <a:ext uri="{A12FA001-AC4F-418D-AE19-62706E023703}">
                      <ahyp:hlinkClr xmlns:ahyp="http://schemas.microsoft.com/office/drawing/2018/hyperlinkcolor" val="tx"/>
                    </a:ext>
                  </a:extLst>
                </a:hlinkClick>
              </a:rPr>
              <a:t>https://www.tutorialspoint.com</a:t>
            </a:r>
            <a:endParaRPr lang="en-IN" sz="6400" dirty="0">
              <a:solidFill>
                <a:srgbClr val="080300"/>
              </a:solidFill>
              <a:latin typeface="MS UI Gothic" panose="020B0600070205080204" pitchFamily="34" charset="-128"/>
              <a:ea typeface="MS UI Gothic" panose="020B0600070205080204" pitchFamily="34" charset="-128"/>
            </a:endParaRPr>
          </a:p>
          <a:p>
            <a:r>
              <a:rPr lang="en-IN" sz="6400" dirty="0" err="1">
                <a:solidFill>
                  <a:srgbClr val="080300"/>
                </a:solidFill>
                <a:latin typeface="MS UI Gothic" panose="020B0600070205080204" pitchFamily="34" charset="-128"/>
                <a:ea typeface="MS UI Gothic" panose="020B0600070205080204" pitchFamily="34" charset="-128"/>
              </a:rPr>
              <a:t>JavaTpoint</a:t>
            </a:r>
            <a:r>
              <a:rPr lang="en-IN" sz="6400" dirty="0">
                <a:solidFill>
                  <a:srgbClr val="080300"/>
                </a:solidFill>
                <a:latin typeface="MS UI Gothic" panose="020B0600070205080204" pitchFamily="34" charset="-128"/>
                <a:ea typeface="MS UI Gothic" panose="020B0600070205080204" pitchFamily="34" charset="-128"/>
              </a:rPr>
              <a:t>, “File Handling in C,” </a:t>
            </a:r>
            <a:r>
              <a:rPr lang="en-IN" sz="6400" i="1" dirty="0" err="1">
                <a:solidFill>
                  <a:srgbClr val="080300"/>
                </a:solidFill>
                <a:latin typeface="MS UI Gothic" panose="020B0600070205080204" pitchFamily="34" charset="-128"/>
                <a:ea typeface="MS UI Gothic" panose="020B0600070205080204" pitchFamily="34" charset="-128"/>
              </a:rPr>
              <a:t>JavaTpoint</a:t>
            </a:r>
            <a:r>
              <a:rPr lang="en-IN" sz="6400" dirty="0">
                <a:solidFill>
                  <a:srgbClr val="080300"/>
                </a:solidFill>
                <a:latin typeface="MS UI Gothic" panose="020B0600070205080204" pitchFamily="34" charset="-128"/>
                <a:ea typeface="MS UI Gothic" panose="020B0600070205080204" pitchFamily="34" charset="-128"/>
              </a:rPr>
              <a:t>. [Online]. Available: https://www.javatpoint.com</a:t>
            </a:r>
          </a:p>
          <a:p>
            <a:r>
              <a:rPr lang="en-IN" sz="6400" dirty="0" err="1">
                <a:solidFill>
                  <a:srgbClr val="080300"/>
                </a:solidFill>
                <a:latin typeface="MS UI Gothic" panose="020B0600070205080204" pitchFamily="34" charset="-128"/>
                <a:ea typeface="MS UI Gothic" panose="020B0600070205080204" pitchFamily="34" charset="-128"/>
              </a:rPr>
              <a:t>GameDev</a:t>
            </a:r>
            <a:r>
              <a:rPr lang="en-IN" sz="6400" dirty="0">
                <a:solidFill>
                  <a:srgbClr val="080300"/>
                </a:solidFill>
                <a:latin typeface="MS UI Gothic" panose="020B0600070205080204" pitchFamily="34" charset="-128"/>
                <a:ea typeface="MS UI Gothic" panose="020B0600070205080204" pitchFamily="34" charset="-128"/>
              </a:rPr>
              <a:t> Community, “Lives and Health System in Games,” </a:t>
            </a:r>
            <a:r>
              <a:rPr lang="en-IN" sz="6400" i="1" dirty="0" err="1">
                <a:solidFill>
                  <a:srgbClr val="080300"/>
                </a:solidFill>
                <a:latin typeface="MS UI Gothic" panose="020B0600070205080204" pitchFamily="34" charset="-128"/>
                <a:ea typeface="MS UI Gothic" panose="020B0600070205080204" pitchFamily="34" charset="-128"/>
              </a:rPr>
              <a:t>GameDev</a:t>
            </a:r>
            <a:r>
              <a:rPr lang="en-IN" sz="6400" i="1" dirty="0">
                <a:solidFill>
                  <a:srgbClr val="080300"/>
                </a:solidFill>
                <a:latin typeface="MS UI Gothic" panose="020B0600070205080204" pitchFamily="34" charset="-128"/>
                <a:ea typeface="MS UI Gothic" panose="020B0600070205080204" pitchFamily="34" charset="-128"/>
              </a:rPr>
              <a:t> Forums</a:t>
            </a:r>
            <a:r>
              <a:rPr lang="en-IN" sz="6400" dirty="0">
                <a:solidFill>
                  <a:srgbClr val="080300"/>
                </a:solidFill>
                <a:latin typeface="MS UI Gothic" panose="020B0600070205080204" pitchFamily="34" charset="-128"/>
                <a:ea typeface="MS UI Gothic" panose="020B0600070205080204" pitchFamily="34" charset="-128"/>
              </a:rPr>
              <a:t>. [Online]. Available: </a:t>
            </a:r>
            <a:r>
              <a:rPr lang="en-IN" sz="6400" u="sng" dirty="0">
                <a:solidFill>
                  <a:srgbClr val="080300"/>
                </a:solidFill>
                <a:latin typeface="MS UI Gothic" panose="020B0600070205080204" pitchFamily="34" charset="-128"/>
                <a:ea typeface="MS UI Gothic" panose="020B0600070205080204" pitchFamily="34" charset="-128"/>
                <a:hlinkClick r:id="rId8">
                  <a:extLst>
                    <a:ext uri="{A12FA001-AC4F-418D-AE19-62706E023703}">
                      <ahyp:hlinkClr xmlns:ahyp="http://schemas.microsoft.com/office/drawing/2018/hyperlinkcolor" val="tx"/>
                    </a:ext>
                  </a:extLst>
                </a:hlinkClick>
              </a:rPr>
              <a:t>https://www.gamedev.net</a:t>
            </a:r>
            <a:endParaRPr lang="en-IN" sz="6400" dirty="0">
              <a:solidFill>
                <a:srgbClr val="080300"/>
              </a:solidFill>
              <a:latin typeface="MS UI Gothic" panose="020B0600070205080204" pitchFamily="34" charset="-128"/>
              <a:ea typeface="MS UI Gothic" panose="020B0600070205080204" pitchFamily="34" charset="-128"/>
            </a:endParaRPr>
          </a:p>
          <a:p>
            <a:endParaRPr lang="en-IN" dirty="0"/>
          </a:p>
          <a:p>
            <a:pPr marL="0" lvl="0" indent="0" algn="l" rtl="0">
              <a:spcBef>
                <a:spcPts val="0"/>
              </a:spcBef>
              <a:spcAft>
                <a:spcPts val="0"/>
              </a:spcAft>
              <a:buNone/>
            </a:pPr>
            <a:endParaRPr dirty="0"/>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1627</Words>
  <Application>Microsoft Office PowerPoint</Application>
  <PresentationFormat>On-screen Show (16:9)</PresentationFormat>
  <Paragraphs>208</Paragraphs>
  <Slides>16</Slides>
  <Notes>14</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Tropic</vt:lpstr>
      <vt:lpstr>FIRE ESCAPE GAME (J1 BATCH-GROUP NO)</vt:lpstr>
      <vt:lpstr>Content</vt:lpstr>
      <vt:lpstr>Introduction and Motivation</vt:lpstr>
      <vt:lpstr>PowerPoint Presentation</vt:lpstr>
      <vt:lpstr>Problem Statement and Objectives</vt:lpstr>
      <vt:lpstr>Individual Contribution</vt:lpstr>
      <vt:lpstr>Summary of Literature Survey</vt:lpstr>
      <vt:lpstr>Summary of Literature Survey</vt:lpstr>
      <vt:lpstr>Summary of Literature Survey</vt:lpstr>
      <vt:lpstr>Proposed System</vt:lpstr>
      <vt:lpstr>PowerPoint Presentation</vt:lpstr>
      <vt:lpstr>Hardware and Software Requirements</vt:lpstr>
      <vt:lpstr>Implementation and Experimental Setup</vt:lpstr>
      <vt:lpstr>PowerPoint Presentation</vt:lpstr>
      <vt:lpstr>Results and 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Title  (Batch-Group Number [E.g. E2-4])</dc:title>
  <dc:creator>Pratiksha Jha</dc:creator>
  <cp:lastModifiedBy>Pratiksha Kumari</cp:lastModifiedBy>
  <cp:revision>15</cp:revision>
  <dcterms:modified xsi:type="dcterms:W3CDTF">2026-03-30T02:29:19Z</dcterms:modified>
</cp:coreProperties>
</file>